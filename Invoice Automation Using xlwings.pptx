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86" r:id="rId6"/>
    <p:sldId id="268" r:id="rId7"/>
    <p:sldId id="287" r:id="rId8"/>
    <p:sldId id="269" r:id="rId9"/>
    <p:sldId id="271" r:id="rId10"/>
    <p:sldId id="270" r:id="rId11"/>
    <p:sldId id="273" r:id="rId12"/>
    <p:sldId id="274" r:id="rId13"/>
    <p:sldId id="284" r:id="rId14"/>
    <p:sldId id="276" r:id="rId15"/>
    <p:sldId id="275" r:id="rId16"/>
    <p:sldId id="277" r:id="rId17"/>
    <p:sldId id="281" r:id="rId18"/>
    <p:sldId id="282" r:id="rId19"/>
    <p:sldId id="278" r:id="rId20"/>
    <p:sldId id="279" r:id="rId21"/>
    <p:sldId id="285" r:id="rId22"/>
    <p:sldId id="283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801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4" y="500354"/>
            <a:ext cx="12093676" cy="1416936"/>
          </a:xfrm>
        </p:spPr>
        <p:txBody>
          <a:bodyPr>
            <a:noAutofit/>
          </a:bodyPr>
          <a:lstStyle/>
          <a:p>
            <a:r>
              <a:rPr lang="en-IN" sz="5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Invoice Automation Using xlwings</a:t>
            </a:r>
            <a:endParaRPr lang="ru-RU" sz="5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02" y="2153265"/>
            <a:ext cx="11543071" cy="3716593"/>
          </a:xfrm>
        </p:spPr>
        <p:txBody>
          <a:bodyPr>
            <a:normAutofit/>
          </a:bodyPr>
          <a:lstStyle/>
          <a:p>
            <a:r>
              <a:rPr lang="en-US" dirty="0"/>
              <a:t>   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</a:t>
            </a:r>
          </a:p>
          <a:p>
            <a:r>
              <a:rPr lang="en-US" dirty="0">
                <a:solidFill>
                  <a:srgbClr val="92D050"/>
                </a:solidFill>
              </a:rPr>
              <a:t>                                                                                                        </a:t>
            </a:r>
            <a:r>
              <a:rPr lang="en-US" dirty="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Gj.RAJALAKSHMI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IMMEK SOFTECH ACADEMY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8AC40-5D3E-1DFA-2181-27759257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A2BE-580C-A1DC-8A13-B4D34120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787E7-DF7D-EBE4-028D-696EA2DF9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Automating invoice creation using Python and Excel (xlwings)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Reduce manual effort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Improves accuracy and speed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Enable bulk invoice processing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68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39BA-0A91-7BC1-84CC-E83811EE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62B94-3809-F51A-F575-FC5C624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ERP (SAP HANA) downtime risk</a:t>
            </a:r>
            <a:endParaRPr lang="en-US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Manual report dependency</a:t>
            </a:r>
            <a:endParaRPr lang="en-US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Delay in accessing invoice data</a:t>
            </a:r>
            <a:endParaRPr lang="en-US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Risk to operations / decision-making</a:t>
            </a:r>
            <a:endParaRPr lang="en-US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Invoice data unavailable during ERP downtime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Calibri" panose="020F0502020204030204" pitchFamily="34" charset="0"/>
              </a:rPr>
              <a:t>'Manual extraction is time-consuming and error-prone</a:t>
            </a:r>
            <a:endParaRPr lang="en-US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7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3E17-7AE0-168C-69DD-5819B411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6A33-2EF7-E400-70EA-29A7AE3B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EAD57-AD92-DB93-8B72-FEA407A7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Aimed to achieve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Ensure offline availability of invoice reports</a:t>
            </a:r>
          </a:p>
          <a:p>
            <a:pPr lvl="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Automate report generation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Improve reliability and speed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78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7174-F233-70A4-A2A4-1FA6B5C0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B896-923A-A161-2887-00B47EDD9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What is xlwings?</a:t>
            </a:r>
            <a:endParaRPr lang="en-IN" sz="5400" b="1" dirty="0">
              <a:solidFill>
                <a:schemeClr val="accent4">
                  <a:lumMod val="20000"/>
                  <a:lumOff val="80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3C19E-65AB-4369-C715-084399EE1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Python library to automate Excel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Works with Microsoft Excel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Allows reading/writing Excel data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trigger Python scripts from Excel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Integrate between excel and python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48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56A5-796A-F785-F8B7-04224576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D337-9A0B-EC1D-1859-3F18CD25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671" y="2052918"/>
            <a:ext cx="8565182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Python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xlwings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Excel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Jupiter Notebook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20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17FC-3D6C-FEC9-1875-66CCBDAC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Existing (Manual) Process</a:t>
            </a:r>
            <a:endParaRPr lang="en-IN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7940-874A-93BC-BD22-F9A17D8F1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Open Excel template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Enter customer details manually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Calculate totals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Save each invoice individually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Repeat for multiple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07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8425-A94D-326F-CED5-68C09974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B6D5-2273-E293-66A3-B20F2A59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Proposed Automated Solution</a:t>
            </a:r>
            <a:endParaRPr lang="en-IN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8ED5-13D2-404F-5192-348560283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50142"/>
            <a:ext cx="8946541" cy="4498258"/>
          </a:xfrm>
        </p:spPr>
        <p:txBody>
          <a:bodyPr/>
          <a:lstStyle/>
          <a:p>
            <a:pPr lvl="0">
              <a:lnSpc>
                <a:spcPct val="25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 data stored in Excel template </a:t>
            </a:r>
          </a:p>
          <a:p>
            <a:pPr lvl="0">
              <a:lnSpc>
                <a:spcPct val="25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Python script processes data</a:t>
            </a:r>
          </a:p>
          <a:p>
            <a:pPr lvl="0">
              <a:lnSpc>
                <a:spcPct val="25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Automatically fills invoice template and invoice generated automatically</a:t>
            </a:r>
          </a:p>
          <a:p>
            <a:pPr lvl="0">
              <a:lnSpc>
                <a:spcPct val="25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Saves invoices in excel with named output folder</a:t>
            </a:r>
          </a:p>
        </p:txBody>
      </p:sp>
    </p:spTree>
    <p:extLst>
      <p:ext uri="{BB962C8B-B14F-4D97-AF65-F5344CB8AC3E}">
        <p14:creationId xmlns:p14="http://schemas.microsoft.com/office/powerpoint/2010/main" val="343172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B865-D93E-9770-0366-679C3346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D512-152C-B9C0-3377-56E08938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Bulk invoice generation</a:t>
            </a:r>
          </a:p>
          <a:p>
            <a:pPr lvl="0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Automated Data Processing</a:t>
            </a:r>
          </a:p>
          <a:p>
            <a:pPr lvl="0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Offline accessibility</a:t>
            </a:r>
          </a:p>
          <a:p>
            <a:pPr lvl="0" fontAlgn="base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Scalable for future reports</a:t>
            </a:r>
          </a:p>
          <a:p>
            <a:pPr lvl="0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Template-based design</a:t>
            </a:r>
          </a:p>
          <a:p>
            <a:pPr lvl="0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Error reduction</a:t>
            </a:r>
          </a:p>
          <a:p>
            <a:pPr lvl="0" fontAlgn="base">
              <a:lnSpc>
                <a:spcPct val="160000"/>
              </a:lnSpc>
            </a:pPr>
            <a:r>
              <a:rPr lang="en-IN" sz="19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Fast Excel report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6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4B65-3D2D-25C9-9571-37911286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Flowchart of Invoice Automation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7AF65B-FF02-8B49-4D0D-3AEEFDA1EA51}"/>
              </a:ext>
            </a:extLst>
          </p:cNvPr>
          <p:cNvCxnSpPr>
            <a:cxnSpLocks/>
          </p:cNvCxnSpPr>
          <p:nvPr/>
        </p:nvCxnSpPr>
        <p:spPr>
          <a:xfrm>
            <a:off x="5580754" y="1995948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1BCD389A-15C9-A306-121D-5F9AAA255169}"/>
              </a:ext>
            </a:extLst>
          </p:cNvPr>
          <p:cNvSpPr/>
          <p:nvPr/>
        </p:nvSpPr>
        <p:spPr>
          <a:xfrm>
            <a:off x="3524861" y="1208866"/>
            <a:ext cx="2743200" cy="5603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Start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19255AA-55ED-524B-9B7B-5B23D453839F}"/>
              </a:ext>
            </a:extLst>
          </p:cNvPr>
          <p:cNvSpPr/>
          <p:nvPr/>
        </p:nvSpPr>
        <p:spPr>
          <a:xfrm>
            <a:off x="3524863" y="1969546"/>
            <a:ext cx="2743200" cy="5673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Invoice Template/Input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C603BC04-D4E8-9402-1757-4FA3C6AAB01B}"/>
              </a:ext>
            </a:extLst>
          </p:cNvPr>
          <p:cNvSpPr/>
          <p:nvPr/>
        </p:nvSpPr>
        <p:spPr>
          <a:xfrm>
            <a:off x="3524863" y="2766295"/>
            <a:ext cx="2743198" cy="4981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Trigger Python Script (xlwings)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28AA325F-4747-F40C-5509-F9462881DFD5}"/>
              </a:ext>
            </a:extLst>
          </p:cNvPr>
          <p:cNvSpPr/>
          <p:nvPr/>
        </p:nvSpPr>
        <p:spPr>
          <a:xfrm>
            <a:off x="3524862" y="3472003"/>
            <a:ext cx="2743197" cy="573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Process &amp; Validate Data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47B86702-B366-86C3-B42F-CCE2E13749EE}"/>
              </a:ext>
            </a:extLst>
          </p:cNvPr>
          <p:cNvSpPr/>
          <p:nvPr/>
        </p:nvSpPr>
        <p:spPr>
          <a:xfrm>
            <a:off x="3524861" y="4409322"/>
            <a:ext cx="2743200" cy="49906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Generate Invoice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175588B-85A1-AAE5-6185-D0B147E6DEFF}"/>
              </a:ext>
            </a:extLst>
          </p:cNvPr>
          <p:cNvSpPr/>
          <p:nvPr/>
        </p:nvSpPr>
        <p:spPr>
          <a:xfrm>
            <a:off x="3524861" y="5308435"/>
            <a:ext cx="2743199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Save as Excel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CCD7EF-863B-72F6-EF34-85E3858321C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896461" y="1769238"/>
            <a:ext cx="0" cy="268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B44300-D524-A249-2D4C-001172A3AB1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896461" y="1592826"/>
            <a:ext cx="2" cy="37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D52593-3F49-783A-AE35-E0D65F3DDF25}"/>
              </a:ext>
            </a:extLst>
          </p:cNvPr>
          <p:cNvCxnSpPr>
            <a:cxnSpLocks/>
          </p:cNvCxnSpPr>
          <p:nvPr/>
        </p:nvCxnSpPr>
        <p:spPr>
          <a:xfrm>
            <a:off x="4876796" y="2522916"/>
            <a:ext cx="0" cy="243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D19079-2A69-342E-3556-7F1AA25C3225}"/>
              </a:ext>
            </a:extLst>
          </p:cNvPr>
          <p:cNvCxnSpPr>
            <a:cxnSpLocks/>
          </p:cNvCxnSpPr>
          <p:nvPr/>
        </p:nvCxnSpPr>
        <p:spPr>
          <a:xfrm>
            <a:off x="4896461" y="3264454"/>
            <a:ext cx="0" cy="243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A0E110-B4B5-FE2B-83A0-AF140423BB20}"/>
              </a:ext>
            </a:extLst>
          </p:cNvPr>
          <p:cNvCxnSpPr>
            <a:cxnSpLocks/>
          </p:cNvCxnSpPr>
          <p:nvPr/>
        </p:nvCxnSpPr>
        <p:spPr>
          <a:xfrm>
            <a:off x="4857127" y="4908384"/>
            <a:ext cx="0" cy="36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C2CCA38-0BE0-4795-20E4-0AC11B72573D}"/>
              </a:ext>
            </a:extLst>
          </p:cNvPr>
          <p:cNvCxnSpPr>
            <a:cxnSpLocks/>
          </p:cNvCxnSpPr>
          <p:nvPr/>
        </p:nvCxnSpPr>
        <p:spPr>
          <a:xfrm>
            <a:off x="4911200" y="4045103"/>
            <a:ext cx="0" cy="36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C81DE9B0-ECE7-BBAD-F334-B46143E204AC}"/>
              </a:ext>
            </a:extLst>
          </p:cNvPr>
          <p:cNvSpPr/>
          <p:nvPr/>
        </p:nvSpPr>
        <p:spPr>
          <a:xfrm>
            <a:off x="3524861" y="1179369"/>
            <a:ext cx="2743200" cy="5603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bg2"/>
                </a:solidFill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72502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E42F-12C6-FC9B-0C03-B8057781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F366-AFF6-3DC9-6558-DBDB0F76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547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Input data/ Invoice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2519-7696-A8B9-A08F-58C6953F1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 Data for Invoice:</a:t>
            </a:r>
          </a:p>
          <a:p>
            <a:pPr marL="0" indent="0">
              <a:buNone/>
            </a:pPr>
            <a:endParaRPr lang="en-IN" sz="36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07C0-A1A4-7786-5DE2-D18F9C3B3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65" y="3247997"/>
            <a:ext cx="7643522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26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BE23-305D-3902-C17F-99448456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1EE1-2DCD-80DC-EA62-56EAC3F4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Demo of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64F4-00C5-11DF-D2C1-C2A14366A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2658"/>
            <a:ext cx="12192000" cy="4645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 Data For Invoice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8C991-1697-E3E0-F060-DCF89A0E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1808"/>
            <a:ext cx="12192000" cy="371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6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0B1E-D7C7-005A-D727-5D8BEA07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480E-2147-11AA-046F-C71448D47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21" y="182199"/>
            <a:ext cx="9911713" cy="663376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Invoice template Need to filled Automatically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F776B-1F08-1ECE-F143-E5830CDF0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3729"/>
            <a:ext cx="12192000" cy="5294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Invoice Template</a:t>
            </a:r>
            <a:r>
              <a:rPr lang="en-IN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IN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highlighted fields are need to be filled automatically using xlwings.</a:t>
            </a:r>
          </a:p>
          <a:p>
            <a:pPr marL="0" indent="0">
              <a:buNone/>
            </a:pPr>
            <a:endParaRPr lang="en-IN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0D5A7D-998F-0393-A546-A1BAF3FE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1" y="2192593"/>
            <a:ext cx="5869858" cy="42671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5A689A-F170-023B-9F27-B03D00BF1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79" y="2192593"/>
            <a:ext cx="569263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0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03C9-46EA-2046-3ED7-EBAEE265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B581-BE79-898E-A983-43961F42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547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DB37-6A6E-AF35-786F-62C6A5EB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209368"/>
            <a:ext cx="9607401" cy="5039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 Data: </a:t>
            </a:r>
            <a:r>
              <a:rPr lang="en-IN" sz="28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input data is read by using the below python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A7714-07C3-514E-4ABC-CAA21ADEA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2472150"/>
            <a:ext cx="10118816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4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72DB-CEA5-04E0-EBE2-6F814630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A0AF-4D86-54B1-E1C3-CC889DD7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386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70C7-5177-8E97-3E17-F98C1415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209368"/>
            <a:ext cx="11001601" cy="5938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 the given invoice template,datasets are iterated (input data) and each fields are filled accordingly using the below code snippet and saved in the output folder with separate invoice number.</a:t>
            </a:r>
            <a:endParaRPr lang="en-IN" sz="18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F314F-50E6-1F0B-5741-5FDE84728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2143431"/>
            <a:ext cx="9607400" cy="438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6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434A-FB4C-C247-F6DC-C7684721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B974-81DF-80FD-F608-60FA7291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2198"/>
            <a:ext cx="9404723" cy="77153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0C2EB-5B5B-7F83-AFB6-4FA44D6FC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3729"/>
            <a:ext cx="12192000" cy="529467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Output folder: </a:t>
            </a:r>
            <a:r>
              <a:rPr lang="en-IN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below five invoices are generated automatically and saved in the output folder as below. </a:t>
            </a:r>
          </a:p>
          <a:p>
            <a:pPr marL="0" indent="0">
              <a:buNone/>
            </a:pPr>
            <a:endParaRPr lang="en-IN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IN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EEA09-2395-B93F-C397-9D03FBF9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01" y="3416710"/>
            <a:ext cx="7102455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88DC-0DB3-18E8-09E4-82EA0965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F089-506B-990E-FA77-CF5043944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942" y="182198"/>
            <a:ext cx="11818373" cy="614215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Automated Invoice Generated using xlwings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1C89-DDE7-0ABB-B98C-03C115E2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3729"/>
            <a:ext cx="12192000" cy="5294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Below is the sample output generated: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748E1-BBE6-60A9-4427-32BDE4DF8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328"/>
            <a:ext cx="6096000" cy="33096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30BF4C-170B-6A85-9AF3-4376C60B6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978" y="1563327"/>
            <a:ext cx="6096000" cy="3309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6C16F-9D0D-2370-1604-47CD6AC1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12773"/>
            <a:ext cx="12113342" cy="19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00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132A-0F2D-2A34-A937-D31DAE0E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27586"/>
            <a:ext cx="9404723" cy="112566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Value adds to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7B50-47EC-37A6-6DD3-BB103046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Saves time ( 2 to 3 hours/day)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Reduces manual errors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Ensures continuity during ERP downtime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Reliable backup system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Scalable solution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Faster decision making and easy to maintain</a:t>
            </a:r>
          </a:p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Reusable for other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042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06B5-32A5-24DB-CFCD-891F63F4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6BCB4-BE9C-3191-6DEB-C8DBA89A4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solution ensures uninterrupted access to critical invoice data and improves operational efficiency.</a:t>
            </a:r>
            <a:endParaRPr lang="en-US" sz="21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xlwings helps bridge between Python and Excel for real-world automation projects</a:t>
            </a:r>
            <a:endParaRPr lang="en-IN" sz="21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>
              <a:lnSpc>
                <a:spcPct val="200000"/>
              </a:lnSpc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Automation improves efficiency</a:t>
            </a:r>
          </a:p>
          <a:p>
            <a:pPr lvl="0">
              <a:lnSpc>
                <a:spcPct val="200000"/>
              </a:lnSpc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xlwings is powerful for Excel-based workflows</a:t>
            </a:r>
          </a:p>
          <a:p>
            <a:pPr lvl="0">
              <a:lnSpc>
                <a:spcPct val="200000"/>
              </a:lnSpc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Suitable for Finance and Operations teams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11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89516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You!</a:t>
            </a:r>
            <a:endParaRPr lang="ru-RU" b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322</TotalTime>
  <Words>438</Words>
  <Application>Microsoft Office PowerPoint</Application>
  <PresentationFormat>Widescreen</PresentationFormat>
  <Paragraphs>96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Wingdings 3</vt:lpstr>
      <vt:lpstr>Ion</vt:lpstr>
      <vt:lpstr>Invoice Automation Using xlwings</vt:lpstr>
      <vt:lpstr>Project Overview</vt:lpstr>
      <vt:lpstr>Business Problem</vt:lpstr>
      <vt:lpstr>Objective</vt:lpstr>
      <vt:lpstr>What is xlwings?</vt:lpstr>
      <vt:lpstr>Tools &amp; Technologies</vt:lpstr>
      <vt:lpstr>Existing (Manual) Process</vt:lpstr>
      <vt:lpstr>Proposed Automated Solution</vt:lpstr>
      <vt:lpstr>Key Features</vt:lpstr>
      <vt:lpstr>Flowchart of Invoice Automation</vt:lpstr>
      <vt:lpstr>Input data/ Invoice Template</vt:lpstr>
      <vt:lpstr>Demo of Input</vt:lpstr>
      <vt:lpstr>Invoice template Need to filled Automatically</vt:lpstr>
      <vt:lpstr>Code Snippet</vt:lpstr>
      <vt:lpstr>Code Snippet</vt:lpstr>
      <vt:lpstr>Output</vt:lpstr>
      <vt:lpstr>Automated Invoice Generated using xlwings</vt:lpstr>
      <vt:lpstr>Value adds to Business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Rajalakshmi Jayapal</dc:creator>
  <cp:lastModifiedBy>Rajalakshmi Jayapal</cp:lastModifiedBy>
  <cp:revision>8</cp:revision>
  <dcterms:created xsi:type="dcterms:W3CDTF">2026-04-03T05:10:13Z</dcterms:created>
  <dcterms:modified xsi:type="dcterms:W3CDTF">2026-04-15T17:29:44Z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