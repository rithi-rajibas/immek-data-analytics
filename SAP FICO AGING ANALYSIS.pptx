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74" r:id="rId4"/>
    <p:sldId id="259" r:id="rId5"/>
    <p:sldId id="275" r:id="rId6"/>
    <p:sldId id="276" r:id="rId7"/>
    <p:sldId id="260" r:id="rId8"/>
    <p:sldId id="261" r:id="rId9"/>
    <p:sldId id="264" r:id="rId10"/>
    <p:sldId id="263" r:id="rId11"/>
    <p:sldId id="265" r:id="rId12"/>
    <p:sldId id="269" r:id="rId13"/>
    <p:sldId id="270" r:id="rId14"/>
    <p:sldId id="271" r:id="rId15"/>
    <p:sldId id="272" r:id="rId16"/>
    <p:sldId id="283" r:id="rId17"/>
    <p:sldId id="267" r:id="rId18"/>
    <p:sldId id="277" r:id="rId19"/>
    <p:sldId id="278" r:id="rId20"/>
    <p:sldId id="279" r:id="rId21"/>
    <p:sldId id="268" r:id="rId22"/>
    <p:sldId id="281" r:id="rId23"/>
    <p:sldId id="280" r:id="rId24"/>
    <p:sldId id="27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669AA1-529B-97D9-E15E-DF841EF88B5E}"/>
              </a:ext>
            </a:extLst>
          </p:cNvPr>
          <p:cNvSpPr txBox="1">
            <a:spLocks/>
          </p:cNvSpPr>
          <p:nvPr/>
        </p:nvSpPr>
        <p:spPr>
          <a:xfrm>
            <a:off x="838201" y="762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b="1" dirty="0">
                <a:latin typeface="Century Gothic" panose="020B0502020202020204" pitchFamily="34" charset="0"/>
              </a:rPr>
              <a:t>Python for SAP FICO: Aging Analysis Automation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AF3A18D-AA2C-BF83-A048-6E6FE73A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2" y="3510116"/>
            <a:ext cx="11454581" cy="2861187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                                                                  By</a:t>
            </a:r>
            <a:b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                                                                  </a:t>
            </a:r>
            <a:r>
              <a:rPr lang="en-US" sz="2800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G.J.RaJALAKSHMI</a:t>
            </a:r>
            <a:b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                                                                  IMMEK SOFTECH ACADEMY</a:t>
            </a:r>
            <a:br>
              <a:rPr lang="en-US" sz="4000" b="1" dirty="0">
                <a:solidFill>
                  <a:srgbClr val="00B0F0"/>
                </a:solidFill>
                <a:latin typeface="Century Gothic" panose="020B0502020202020204" pitchFamily="34" charset="0"/>
              </a:rPr>
            </a:br>
            <a:endParaRPr lang="en-IN" sz="4000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7CC75A-B845-2492-2093-6BEDE3A698D9}"/>
              </a:ext>
            </a:extLst>
          </p:cNvPr>
          <p:cNvSpPr txBox="1"/>
          <p:nvPr/>
        </p:nvSpPr>
        <p:spPr>
          <a:xfrm>
            <a:off x="1317523" y="2347638"/>
            <a:ext cx="114545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200" b="1" dirty="0">
              <a:latin typeface="Century Gothic" panose="020B0502020202020204" pitchFamily="34" charset="0"/>
            </a:endParaRPr>
          </a:p>
          <a:p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Automating Receivables &amp; Payables with Risk Awareness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403373-1709-F2DD-79C9-7B5880E2B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32" y="3991896"/>
            <a:ext cx="5388078" cy="207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3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 dir="ou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4613-1387-13C8-158F-070A39F2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42485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B89BDB-CF66-6B0B-1499-99E0E73804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467905"/>
            <a:ext cx="11181735" cy="499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fontAlgn="base">
              <a:lnSpc>
                <a:spcPct val="200000"/>
              </a:lnSpc>
              <a:buNone/>
            </a:pPr>
            <a:r>
              <a:rPr lang="en-IN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Manual aging reports in SAP FICO are: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Time-consuming</a:t>
            </a:r>
          </a:p>
          <a:p>
            <a:pPr lvl="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Error-prone</a:t>
            </a:r>
          </a:p>
          <a:p>
            <a:pPr lvl="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Large datasets increase complexity</a:t>
            </a:r>
          </a:p>
          <a:p>
            <a:pPr lvl="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Delayed reporting affects financial decisions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BC909C-4EB4-1EEC-BA3B-2E3F8ED38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146" y="1897626"/>
            <a:ext cx="4376234" cy="247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23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CB1D-AF56-77FC-C26B-53B2C4C0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435F5-A843-6335-51B5-CBA0C70A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101272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5799E1-603E-9B2C-516D-F57DDA3A1E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839803"/>
            <a:ext cx="11181735" cy="4253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Automate aging analysis using Python</a:t>
            </a:r>
          </a:p>
          <a:p>
            <a:pPr lvl="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Improve speed and accuracy</a:t>
            </a:r>
          </a:p>
          <a:p>
            <a:pPr lvl="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Provide structured and reliable reports</a:t>
            </a:r>
          </a:p>
          <a:p>
            <a:pPr lvl="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Ensure system resilience during disruptions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8F0EDB-F721-7AE9-1AF2-C00E5CA69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160" y="2353520"/>
            <a:ext cx="3825627" cy="142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66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728B-2EC9-5AE4-ADBD-E9279B972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99741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entury Gothic" panose="020B0502020202020204" pitchFamily="34" charset="0"/>
              </a:rPr>
              <a:t>AGING ANALYSIS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9F2A42-E5DD-041B-37BA-A46CCC2748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607014"/>
            <a:ext cx="7937089" cy="4719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Categorization of outstanding invoices by time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Helps track: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Payment delays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Cash flow health Buckets Example: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         00—30 days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         31—60 days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         61—90 days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         90+ days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969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CE949-7DA2-8C8E-F5AE-2F101FEE5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E838D-86FC-AE86-0E07-C016779F3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997414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Century Gothic" panose="020B0502020202020204" pitchFamily="34" charset="0"/>
              </a:rPr>
              <a:t>Tools &amp;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1D0EAC-1E75-CAF0-69D2-CB5D485759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119976"/>
            <a:ext cx="793708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SAP FICO (Data Source)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Python (automation engine)</a:t>
            </a:r>
            <a:endParaRPr lang="en-US" altLang="en-US" sz="1000" b="1" dirty="0">
              <a:solidFill>
                <a:schemeClr val="accent6">
                  <a:lumMod val="20000"/>
                  <a:lumOff val="80000"/>
                </a:schemeClr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Libraries:</a:t>
            </a:r>
            <a:endParaRPr lang="en-US" altLang="en-US" sz="1000" b="1" dirty="0">
              <a:solidFill>
                <a:schemeClr val="accent6">
                  <a:lumMod val="20000"/>
                  <a:lumOff val="80000"/>
                </a:schemeClr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  Pandas</a:t>
            </a:r>
            <a:endParaRPr lang="en-US" altLang="en-US" sz="1000" b="1" dirty="0">
              <a:solidFill>
                <a:schemeClr val="accent6">
                  <a:lumMod val="20000"/>
                  <a:lumOff val="80000"/>
                </a:schemeClr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  NumPy</a:t>
            </a:r>
            <a:endParaRPr lang="en-US" altLang="en-US" sz="1000" b="1" dirty="0">
              <a:solidFill>
                <a:schemeClr val="accent6">
                  <a:lumMod val="20000"/>
                  <a:lumOff val="80000"/>
                </a:schemeClr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  </a:t>
            </a:r>
            <a:r>
              <a:rPr lang="en-US" altLang="en-US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xlwings</a:t>
            </a:r>
            <a:endParaRPr lang="en-US" altLang="en-US" sz="2400" b="1" dirty="0">
              <a:solidFill>
                <a:schemeClr val="accent6">
                  <a:lumMod val="20000"/>
                  <a:lumOff val="8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8189">
            <a:extLst>
              <a:ext uri="{FF2B5EF4-FFF2-40B4-BE49-F238E27FC236}">
                <a16:creationId xmlns:a16="http://schemas.microsoft.com/office/drawing/2014/main" id="{0F057303-D45E-55BC-0328-3440941AA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60325" cy="6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911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749B-85C3-68A3-1671-2F2C2171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84D65-38A5-9306-35A9-31DED1F1B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997414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Century Gothic" panose="020B0502020202020204" pitchFamily="34" charset="0"/>
              </a:rPr>
              <a:t>Why Python?</a:t>
            </a:r>
          </a:p>
        </p:txBody>
      </p:sp>
      <p:pic>
        <p:nvPicPr>
          <p:cNvPr id="1028" name="Picture 8189">
            <a:extLst>
              <a:ext uri="{FF2B5EF4-FFF2-40B4-BE49-F238E27FC236}">
                <a16:creationId xmlns:a16="http://schemas.microsoft.com/office/drawing/2014/main" id="{C464C0FA-2305-9D2B-E1AB-2BD8DA9CA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60325" cy="6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8197">
            <a:extLst>
              <a:ext uri="{FF2B5EF4-FFF2-40B4-BE49-F238E27FC236}">
                <a16:creationId xmlns:a16="http://schemas.microsoft.com/office/drawing/2014/main" id="{540927D3-E0CD-FDD5-400E-9B73A924F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60325" cy="6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B22B827-D91F-FAD9-CEC7-728BCE262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1" y="1080753"/>
            <a:ext cx="7160341" cy="3803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lvl="0" indent="-342900" defTabSz="91440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Century Gothic" panose="020B0502020202020204" pitchFamily="34" charset="0"/>
            </a:endParaRPr>
          </a:p>
          <a:p>
            <a:pPr marL="342900" lvl="0" indent="-342900" defTabSz="9144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Century Gothic" panose="020B0502020202020204" pitchFamily="34" charset="0"/>
              </a:rPr>
              <a:t>Automation reduces manual effort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Faster processing of large datasets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High accuracy and consistency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Flexible and scalable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207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9A7FD-BA4A-F01B-5D22-D2B05E998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F262-CD70-5472-2BE5-86E6A3874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956378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/>
            </a:br>
            <a:r>
              <a:rPr lang="en-IN" b="1" dirty="0">
                <a:latin typeface="Century Gothic" panose="020B0502020202020204" pitchFamily="34" charset="0"/>
              </a:rPr>
              <a:t>System Workflow</a:t>
            </a:r>
            <a:br>
              <a:rPr lang="en-IN" b="1" dirty="0"/>
            </a:b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66B026-D186-3CA5-F83E-8C57DD74DE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3289527"/>
            <a:ext cx="10385322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3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SAP -&gt; Excel Export -&gt; Python Script -&gt;Aging Calculation -&gt; Pivot Report -&gt;Dashboard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166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1136D-DE0A-3B0E-673F-6E44239D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4877B-EE6F-0C7B-34B4-A7B8602D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956378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Data Input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114865-B6F4-C738-3325-42823B6FC1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901360"/>
            <a:ext cx="9549580" cy="4130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</a:pPr>
            <a:r>
              <a:rPr lang="en-IN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Sample SAP export structure Fields:</a:t>
            </a:r>
          </a:p>
          <a:p>
            <a:pPr lvl="0" fontAlgn="base">
              <a:lnSpc>
                <a:spcPct val="200000"/>
              </a:lnSpc>
            </a:pPr>
            <a:r>
              <a:rPr lang="en-IN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Customer/Vendor Invoice Date</a:t>
            </a:r>
          </a:p>
          <a:p>
            <a:pPr>
              <a:lnSpc>
                <a:spcPct val="200000"/>
              </a:lnSpc>
            </a:pPr>
            <a:r>
              <a:rPr lang="en-IN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Due Date</a:t>
            </a:r>
          </a:p>
          <a:p>
            <a:pPr lvl="0" fontAlgn="base">
              <a:lnSpc>
                <a:spcPct val="200000"/>
              </a:lnSpc>
            </a:pPr>
            <a:r>
              <a:rPr lang="en-IN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Amount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527B7B-1092-AF96-DFAE-D8AB00993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160" y="2353519"/>
            <a:ext cx="4376234" cy="282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87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23E07-52F0-5473-8FF2-0D0B41AED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D8F4B-9D6A-83E5-C191-2347FBF9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5974"/>
            <a:ext cx="10131425" cy="1330005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Century Gothic" panose="020B0502020202020204" pitchFamily="34" charset="0"/>
              </a:rPr>
            </a:br>
            <a:r>
              <a:rPr lang="en-IN" sz="4000" b="1" dirty="0">
                <a:latin typeface="Century Gothic" panose="020B0502020202020204" pitchFamily="34" charset="0"/>
              </a:rPr>
              <a:t>Process Steps</a:t>
            </a:r>
            <a:br>
              <a:rPr lang="en-US" sz="4000" b="1" dirty="0">
                <a:latin typeface="Century Gothic" panose="020B0502020202020204" pitchFamily="34" charset="0"/>
              </a:rPr>
            </a:br>
            <a:endParaRPr 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105CF1-350A-0A2B-E9AC-BB53364948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775683"/>
            <a:ext cx="9549580" cy="4381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Century Gothic" panose="020B0502020202020204" pitchFamily="34" charset="0"/>
              </a:rPr>
              <a:t>Import SAP data</a:t>
            </a:r>
          </a:p>
          <a:p>
            <a:pPr lvl="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Century Gothic" panose="020B0502020202020204" pitchFamily="34" charset="0"/>
              </a:rPr>
              <a:t>Calculate aging days</a:t>
            </a:r>
          </a:p>
          <a:p>
            <a:pPr lvl="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Century Gothic" panose="020B0502020202020204" pitchFamily="34" charset="0"/>
              </a:rPr>
              <a:t>Assign aging buckets</a:t>
            </a:r>
          </a:p>
          <a:p>
            <a:pPr lvl="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Century Gothic" panose="020B0502020202020204" pitchFamily="34" charset="0"/>
              </a:rPr>
              <a:t>Generate pivot table</a:t>
            </a:r>
          </a:p>
          <a:p>
            <a:pPr lvl="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Century Gothic" panose="020B0502020202020204" pitchFamily="34" charset="0"/>
              </a:rPr>
              <a:t>Export final report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819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B3E5A-8606-643D-D937-B34F11706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508E4-6AA8-0693-9FEF-970A0822E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5974"/>
            <a:ext cx="10131425" cy="1330005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Century Gothic" panose="020B0502020202020204" pitchFamily="34" charset="0"/>
              </a:rPr>
            </a:br>
            <a:r>
              <a:rPr lang="en-IN" sz="4400" b="1" dirty="0">
                <a:latin typeface="Century Gothic" panose="020B0502020202020204" pitchFamily="34" charset="0"/>
              </a:rPr>
              <a:t>Aging Bucket Classification</a:t>
            </a:r>
            <a:br>
              <a:rPr lang="en-US" sz="4000" b="1" dirty="0">
                <a:latin typeface="Century Gothic" panose="020B0502020202020204" pitchFamily="34" charset="0"/>
              </a:rPr>
            </a:br>
            <a:endParaRPr 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D1FE04F-929E-1ABF-737C-FF23123E5B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804470"/>
            <a:ext cx="10778612" cy="303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0–30 days → Current </a:t>
            </a:r>
          </a:p>
          <a:p>
            <a:pPr lvl="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31–60 days → Overdue </a:t>
            </a:r>
          </a:p>
          <a:p>
            <a:pPr lvl="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61–90 days → Risk </a:t>
            </a:r>
          </a:p>
          <a:p>
            <a:pPr lvl="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90+ days → High Risk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198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E096F-04FC-FB8E-E73D-E9AD5627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AF7D-FAD4-0BBC-3FD0-10D4CFA8C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5975"/>
            <a:ext cx="10131425" cy="1052052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Century Gothic" panose="020B0502020202020204" pitchFamily="34" charset="0"/>
              </a:rPr>
            </a:br>
            <a:r>
              <a:rPr lang="en-IN" sz="4400" b="1" dirty="0">
                <a:latin typeface="Century Gothic" panose="020B0502020202020204" pitchFamily="34" charset="0"/>
              </a:rPr>
              <a:t>Python Implementation</a:t>
            </a:r>
            <a:br>
              <a:rPr lang="en-US" sz="4000" b="1" dirty="0">
                <a:latin typeface="Century Gothic" panose="020B0502020202020204" pitchFamily="34" charset="0"/>
              </a:rPr>
            </a:br>
            <a:endParaRPr 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B43C42-1258-5F1F-B68E-7C93A146EF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6581" y="1356096"/>
            <a:ext cx="10131425" cy="5197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Used Pandas library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Steps: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       Load data into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DataFrame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       Convert date columns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       Calculate days Overdue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  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Calculate aging days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       </a:t>
            </a: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Create Separate Pivot table for Receivables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&amp; Payables aging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       Save to Excel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580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0A0DB-46A1-6153-E370-6FA4B21DB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0AE8-6577-FFCD-0DBD-883BC141D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5975"/>
            <a:ext cx="10131425" cy="845568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Century Gothic" panose="020B0502020202020204" pitchFamily="34" charset="0"/>
              </a:rPr>
            </a:br>
            <a:r>
              <a:rPr lang="en-IN" sz="4400" b="1" dirty="0">
                <a:latin typeface="Century Gothic" panose="020B0502020202020204" pitchFamily="34" charset="0"/>
              </a:rPr>
              <a:t>Code SNIPPET</a:t>
            </a:r>
            <a:br>
              <a:rPr lang="en-US" sz="4000" b="1" dirty="0">
                <a:latin typeface="Century Gothic" panose="020B0502020202020204" pitchFamily="34" charset="0"/>
              </a:rPr>
            </a:br>
            <a:endParaRPr lang="en-US" sz="4000" b="1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01F665-1658-E58E-EB56-F55B9994A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0476"/>
            <a:ext cx="6256557" cy="1161317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A6549E1-FD33-57F6-38BB-6B35F6F9A0B7}"/>
              </a:ext>
            </a:extLst>
          </p:cNvPr>
          <p:cNvSpPr/>
          <p:nvPr/>
        </p:nvSpPr>
        <p:spPr>
          <a:xfrm flipH="1">
            <a:off x="0" y="1219200"/>
            <a:ext cx="2939846" cy="68828"/>
          </a:xfrm>
          <a:custGeom>
            <a:avLst/>
            <a:gdLst>
              <a:gd name="csX0" fmla="*/ 2684207 w 2684207"/>
              <a:gd name="csY0" fmla="*/ 2756255 h 2756255"/>
              <a:gd name="csX1" fmla="*/ 2340078 w 2684207"/>
              <a:gd name="csY1" fmla="*/ 2028668 h 2756255"/>
              <a:gd name="csX2" fmla="*/ 1229032 w 2684207"/>
              <a:gd name="csY2" fmla="*/ 632487 h 2756255"/>
              <a:gd name="csX3" fmla="*/ 530942 w 2684207"/>
              <a:gd name="csY3" fmla="*/ 199868 h 2756255"/>
              <a:gd name="csX4" fmla="*/ 196645 w 2684207"/>
              <a:gd name="csY4" fmla="*/ 52384 h 2756255"/>
              <a:gd name="csX5" fmla="*/ 0 w 2684207"/>
              <a:gd name="csY5" fmla="*/ 42552 h 2756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684207" h="2756255">
                <a:moveTo>
                  <a:pt x="2684207" y="2756255"/>
                </a:moveTo>
                <a:cubicBezTo>
                  <a:pt x="2651971" y="2433918"/>
                  <a:pt x="2680940" y="2598157"/>
                  <a:pt x="2340078" y="2028668"/>
                </a:cubicBezTo>
                <a:cubicBezTo>
                  <a:pt x="2023606" y="1499929"/>
                  <a:pt x="1710573" y="1032591"/>
                  <a:pt x="1229032" y="632487"/>
                </a:cubicBezTo>
                <a:cubicBezTo>
                  <a:pt x="1018472" y="457536"/>
                  <a:pt x="772493" y="328695"/>
                  <a:pt x="530942" y="199868"/>
                </a:cubicBezTo>
                <a:cubicBezTo>
                  <a:pt x="403112" y="131692"/>
                  <a:pt x="342585" y="90789"/>
                  <a:pt x="196645" y="52384"/>
                </a:cubicBezTo>
                <a:cubicBezTo>
                  <a:pt x="11618" y="3693"/>
                  <a:pt x="36975" y="-31402"/>
                  <a:pt x="0" y="4255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entury Gothic" panose="020B0502020202020204" pitchFamily="34" charset="0"/>
              </a:rPr>
              <a:t>Load Input Data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BEA570-B2B6-E3D4-4EC9-94D0FBB0F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86019"/>
            <a:ext cx="6256557" cy="18527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F2670F-A736-17B0-EAD6-6ECFCE6B1C6A}"/>
              </a:ext>
            </a:extLst>
          </p:cNvPr>
          <p:cNvSpPr txBox="1"/>
          <p:nvPr/>
        </p:nvSpPr>
        <p:spPr>
          <a:xfrm>
            <a:off x="521111" y="3246792"/>
            <a:ext cx="8620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Convert date columns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817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3C739-4CBB-B560-7C48-6AC28448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61E0-90AB-D54C-E33F-7124BB5FC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5975"/>
            <a:ext cx="10131425" cy="845568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Century Gothic" panose="020B0502020202020204" pitchFamily="34" charset="0"/>
              </a:rPr>
            </a:br>
            <a:r>
              <a:rPr lang="en-IN" sz="4400" b="1" dirty="0">
                <a:latin typeface="Century Gothic" panose="020B0502020202020204" pitchFamily="34" charset="0"/>
              </a:rPr>
              <a:t>Code Highlights</a:t>
            </a:r>
            <a:br>
              <a:rPr lang="en-US" sz="4000" b="1" dirty="0">
                <a:latin typeface="Century Gothic" panose="020B0502020202020204" pitchFamily="34" charset="0"/>
              </a:rPr>
            </a:br>
            <a:endParaRPr 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F15549-13D1-2239-B09A-346B85DF2524}"/>
              </a:ext>
            </a:extLst>
          </p:cNvPr>
          <p:cNvSpPr/>
          <p:nvPr/>
        </p:nvSpPr>
        <p:spPr>
          <a:xfrm flipH="1">
            <a:off x="0" y="1219200"/>
            <a:ext cx="2939846" cy="68828"/>
          </a:xfrm>
          <a:custGeom>
            <a:avLst/>
            <a:gdLst>
              <a:gd name="csX0" fmla="*/ 2684207 w 2684207"/>
              <a:gd name="csY0" fmla="*/ 2756255 h 2756255"/>
              <a:gd name="csX1" fmla="*/ 2340078 w 2684207"/>
              <a:gd name="csY1" fmla="*/ 2028668 h 2756255"/>
              <a:gd name="csX2" fmla="*/ 1229032 w 2684207"/>
              <a:gd name="csY2" fmla="*/ 632487 h 2756255"/>
              <a:gd name="csX3" fmla="*/ 530942 w 2684207"/>
              <a:gd name="csY3" fmla="*/ 199868 h 2756255"/>
              <a:gd name="csX4" fmla="*/ 196645 w 2684207"/>
              <a:gd name="csY4" fmla="*/ 52384 h 2756255"/>
              <a:gd name="csX5" fmla="*/ 0 w 2684207"/>
              <a:gd name="csY5" fmla="*/ 42552 h 2756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684207" h="2756255">
                <a:moveTo>
                  <a:pt x="2684207" y="2756255"/>
                </a:moveTo>
                <a:cubicBezTo>
                  <a:pt x="2651971" y="2433918"/>
                  <a:pt x="2680940" y="2598157"/>
                  <a:pt x="2340078" y="2028668"/>
                </a:cubicBezTo>
                <a:cubicBezTo>
                  <a:pt x="2023606" y="1499929"/>
                  <a:pt x="1710573" y="1032591"/>
                  <a:pt x="1229032" y="632487"/>
                </a:cubicBezTo>
                <a:cubicBezTo>
                  <a:pt x="1018472" y="457536"/>
                  <a:pt x="772493" y="328695"/>
                  <a:pt x="530942" y="199868"/>
                </a:cubicBezTo>
                <a:cubicBezTo>
                  <a:pt x="403112" y="131692"/>
                  <a:pt x="342585" y="90789"/>
                  <a:pt x="196645" y="52384"/>
                </a:cubicBezTo>
                <a:cubicBezTo>
                  <a:pt x="11618" y="3693"/>
                  <a:pt x="36975" y="-31402"/>
                  <a:pt x="0" y="4255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AEA35-831F-3906-D1A7-A5FC200D5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425685"/>
            <a:ext cx="6256558" cy="21871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976BE5-AE12-653F-0566-0F9D2B5BB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4581134"/>
            <a:ext cx="6256558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94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574A6-3393-C7AD-BEAA-E39BC94B9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5068F-9D9E-B7E9-F979-C2832D867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5975"/>
            <a:ext cx="10131425" cy="845568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Century Gothic" panose="020B0502020202020204" pitchFamily="34" charset="0"/>
              </a:rPr>
            </a:br>
            <a:r>
              <a:rPr lang="en-IN" sz="4400" b="1" dirty="0">
                <a:latin typeface="Century Gothic" panose="020B0502020202020204" pitchFamily="34" charset="0"/>
              </a:rPr>
              <a:t>Code Highlights</a:t>
            </a:r>
            <a:br>
              <a:rPr lang="en-US" sz="4000" b="1" dirty="0">
                <a:latin typeface="Century Gothic" panose="020B0502020202020204" pitchFamily="34" charset="0"/>
              </a:rPr>
            </a:br>
            <a:endParaRPr 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9A5A327-50EA-8954-4CEC-ABDE1CBF8611}"/>
              </a:ext>
            </a:extLst>
          </p:cNvPr>
          <p:cNvSpPr/>
          <p:nvPr/>
        </p:nvSpPr>
        <p:spPr>
          <a:xfrm flipH="1">
            <a:off x="0" y="1219200"/>
            <a:ext cx="2939846" cy="68828"/>
          </a:xfrm>
          <a:custGeom>
            <a:avLst/>
            <a:gdLst>
              <a:gd name="csX0" fmla="*/ 2684207 w 2684207"/>
              <a:gd name="csY0" fmla="*/ 2756255 h 2756255"/>
              <a:gd name="csX1" fmla="*/ 2340078 w 2684207"/>
              <a:gd name="csY1" fmla="*/ 2028668 h 2756255"/>
              <a:gd name="csX2" fmla="*/ 1229032 w 2684207"/>
              <a:gd name="csY2" fmla="*/ 632487 h 2756255"/>
              <a:gd name="csX3" fmla="*/ 530942 w 2684207"/>
              <a:gd name="csY3" fmla="*/ 199868 h 2756255"/>
              <a:gd name="csX4" fmla="*/ 196645 w 2684207"/>
              <a:gd name="csY4" fmla="*/ 52384 h 2756255"/>
              <a:gd name="csX5" fmla="*/ 0 w 2684207"/>
              <a:gd name="csY5" fmla="*/ 42552 h 2756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684207" h="2756255">
                <a:moveTo>
                  <a:pt x="2684207" y="2756255"/>
                </a:moveTo>
                <a:cubicBezTo>
                  <a:pt x="2651971" y="2433918"/>
                  <a:pt x="2680940" y="2598157"/>
                  <a:pt x="2340078" y="2028668"/>
                </a:cubicBezTo>
                <a:cubicBezTo>
                  <a:pt x="2023606" y="1499929"/>
                  <a:pt x="1710573" y="1032591"/>
                  <a:pt x="1229032" y="632487"/>
                </a:cubicBezTo>
                <a:cubicBezTo>
                  <a:pt x="1018472" y="457536"/>
                  <a:pt x="772493" y="328695"/>
                  <a:pt x="530942" y="199868"/>
                </a:cubicBezTo>
                <a:cubicBezTo>
                  <a:pt x="403112" y="131692"/>
                  <a:pt x="342585" y="90789"/>
                  <a:pt x="196645" y="52384"/>
                </a:cubicBezTo>
                <a:cubicBezTo>
                  <a:pt x="11618" y="3693"/>
                  <a:pt x="36975" y="-31402"/>
                  <a:pt x="0" y="4255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FBE4B-8A54-8F57-2734-C545E488D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17" y="1325024"/>
            <a:ext cx="8704715" cy="586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F89882-F154-3262-7CE1-65C72133E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16" y="1931127"/>
            <a:ext cx="8704715" cy="472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7A1568-E19D-0E17-9103-0E2F9D3DF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16" y="2422920"/>
            <a:ext cx="8783374" cy="28078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C85E51-329A-2E37-9152-234F616B91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16" y="5350287"/>
            <a:ext cx="8783374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56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FB6D8-75D8-CD2D-32EE-62AA2BB6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6FBB-D6E5-F570-B037-2E269D5FD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5975"/>
            <a:ext cx="10131425" cy="845568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Century Gothic" panose="020B0502020202020204" pitchFamily="34" charset="0"/>
              </a:rPr>
            </a:br>
            <a:r>
              <a:rPr lang="en-IN" b="1" dirty="0" err="1">
                <a:latin typeface="Century Gothic" panose="020B0502020202020204" pitchFamily="34" charset="0"/>
              </a:rPr>
              <a:t>OutPUT</a:t>
            </a:r>
            <a:r>
              <a:rPr lang="en-IN" b="1" dirty="0">
                <a:latin typeface="Century Gothic" panose="020B0502020202020204" pitchFamily="34" charset="0"/>
              </a:rPr>
              <a:t> SAVED IN EXCEL For RECEIVABLES</a:t>
            </a:r>
            <a:br>
              <a:rPr lang="en-US" sz="4000" b="1" dirty="0">
                <a:latin typeface="Century Gothic" panose="020B0502020202020204" pitchFamily="34" charset="0"/>
              </a:rPr>
            </a:br>
            <a:endParaRPr 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A97AC7B-56A0-F8CE-8470-2C029ED3F36D}"/>
              </a:ext>
            </a:extLst>
          </p:cNvPr>
          <p:cNvSpPr/>
          <p:nvPr/>
        </p:nvSpPr>
        <p:spPr>
          <a:xfrm flipH="1">
            <a:off x="-1" y="1219199"/>
            <a:ext cx="5368413" cy="570271"/>
          </a:xfrm>
          <a:custGeom>
            <a:avLst/>
            <a:gdLst>
              <a:gd name="csX0" fmla="*/ 2684207 w 2684207"/>
              <a:gd name="csY0" fmla="*/ 2756255 h 2756255"/>
              <a:gd name="csX1" fmla="*/ 2340078 w 2684207"/>
              <a:gd name="csY1" fmla="*/ 2028668 h 2756255"/>
              <a:gd name="csX2" fmla="*/ 1229032 w 2684207"/>
              <a:gd name="csY2" fmla="*/ 632487 h 2756255"/>
              <a:gd name="csX3" fmla="*/ 530942 w 2684207"/>
              <a:gd name="csY3" fmla="*/ 199868 h 2756255"/>
              <a:gd name="csX4" fmla="*/ 196645 w 2684207"/>
              <a:gd name="csY4" fmla="*/ 52384 h 2756255"/>
              <a:gd name="csX5" fmla="*/ 0 w 2684207"/>
              <a:gd name="csY5" fmla="*/ 42552 h 2756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684207" h="2756255">
                <a:moveTo>
                  <a:pt x="2684207" y="2756255"/>
                </a:moveTo>
                <a:cubicBezTo>
                  <a:pt x="2651971" y="2433918"/>
                  <a:pt x="2680940" y="2598157"/>
                  <a:pt x="2340078" y="2028668"/>
                </a:cubicBezTo>
                <a:cubicBezTo>
                  <a:pt x="2023606" y="1499929"/>
                  <a:pt x="1710573" y="1032591"/>
                  <a:pt x="1229032" y="632487"/>
                </a:cubicBezTo>
                <a:cubicBezTo>
                  <a:pt x="1018472" y="457536"/>
                  <a:pt x="772493" y="328695"/>
                  <a:pt x="530942" y="199868"/>
                </a:cubicBezTo>
                <a:cubicBezTo>
                  <a:pt x="403112" y="131692"/>
                  <a:pt x="342585" y="90789"/>
                  <a:pt x="196645" y="52384"/>
                </a:cubicBezTo>
                <a:cubicBezTo>
                  <a:pt x="11618" y="3693"/>
                  <a:pt x="36975" y="-31402"/>
                  <a:pt x="0" y="4255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Century Gothic" panose="020B0502020202020204" pitchFamily="34" charset="0"/>
              </a:rPr>
              <a:t>Aging_Analysis_Receivables</a:t>
            </a:r>
            <a:endParaRPr lang="en-IN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7D4FA-15E0-4727-41C4-AC1B66058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25" y="2025444"/>
            <a:ext cx="8990920" cy="48064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6AB60D-8E2E-1272-516C-4398C357F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245" y="674322"/>
            <a:ext cx="2146069" cy="10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82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30541-8CB1-A631-B9D6-6F301C37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BFAC9-253D-F2B8-1E82-139E78B64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5975"/>
            <a:ext cx="10131425" cy="845568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Century Gothic" panose="020B0502020202020204" pitchFamily="34" charset="0"/>
              </a:rPr>
            </a:br>
            <a:r>
              <a:rPr lang="en-IN" b="1" dirty="0" err="1">
                <a:latin typeface="Century Gothic" panose="020B0502020202020204" pitchFamily="34" charset="0"/>
              </a:rPr>
              <a:t>OutPUT</a:t>
            </a:r>
            <a:r>
              <a:rPr lang="en-IN" b="1" dirty="0">
                <a:latin typeface="Century Gothic" panose="020B0502020202020204" pitchFamily="34" charset="0"/>
              </a:rPr>
              <a:t> SAVED IN EXCEL For RECEIVABLES</a:t>
            </a:r>
            <a:br>
              <a:rPr lang="en-US" sz="4000" b="1" dirty="0">
                <a:latin typeface="Century Gothic" panose="020B0502020202020204" pitchFamily="34" charset="0"/>
              </a:rPr>
            </a:br>
            <a:endParaRPr 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59FA668-B8BC-CD3F-2C0B-4D15A45AE2BD}"/>
              </a:ext>
            </a:extLst>
          </p:cNvPr>
          <p:cNvSpPr/>
          <p:nvPr/>
        </p:nvSpPr>
        <p:spPr>
          <a:xfrm flipH="1">
            <a:off x="-1" y="1219199"/>
            <a:ext cx="5368413" cy="570271"/>
          </a:xfrm>
          <a:custGeom>
            <a:avLst/>
            <a:gdLst>
              <a:gd name="csX0" fmla="*/ 2684207 w 2684207"/>
              <a:gd name="csY0" fmla="*/ 2756255 h 2756255"/>
              <a:gd name="csX1" fmla="*/ 2340078 w 2684207"/>
              <a:gd name="csY1" fmla="*/ 2028668 h 2756255"/>
              <a:gd name="csX2" fmla="*/ 1229032 w 2684207"/>
              <a:gd name="csY2" fmla="*/ 632487 h 2756255"/>
              <a:gd name="csX3" fmla="*/ 530942 w 2684207"/>
              <a:gd name="csY3" fmla="*/ 199868 h 2756255"/>
              <a:gd name="csX4" fmla="*/ 196645 w 2684207"/>
              <a:gd name="csY4" fmla="*/ 52384 h 2756255"/>
              <a:gd name="csX5" fmla="*/ 0 w 2684207"/>
              <a:gd name="csY5" fmla="*/ 42552 h 2756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684207" h="2756255">
                <a:moveTo>
                  <a:pt x="2684207" y="2756255"/>
                </a:moveTo>
                <a:cubicBezTo>
                  <a:pt x="2651971" y="2433918"/>
                  <a:pt x="2680940" y="2598157"/>
                  <a:pt x="2340078" y="2028668"/>
                </a:cubicBezTo>
                <a:cubicBezTo>
                  <a:pt x="2023606" y="1499929"/>
                  <a:pt x="1710573" y="1032591"/>
                  <a:pt x="1229032" y="632487"/>
                </a:cubicBezTo>
                <a:cubicBezTo>
                  <a:pt x="1018472" y="457536"/>
                  <a:pt x="772493" y="328695"/>
                  <a:pt x="530942" y="199868"/>
                </a:cubicBezTo>
                <a:cubicBezTo>
                  <a:pt x="403112" y="131692"/>
                  <a:pt x="342585" y="90789"/>
                  <a:pt x="196645" y="52384"/>
                </a:cubicBezTo>
                <a:cubicBezTo>
                  <a:pt x="11618" y="3693"/>
                  <a:pt x="36975" y="-31402"/>
                  <a:pt x="0" y="4255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Century Gothic" panose="020B0502020202020204" pitchFamily="34" charset="0"/>
              </a:rPr>
              <a:t>Aging_Analysis_Payables</a:t>
            </a:r>
            <a:endParaRPr lang="en-IN" dirty="0">
              <a:latin typeface="Century Gothic" panose="020B0502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BF7CD0-7E39-8290-38FD-64D96C7B9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026" y="2025444"/>
            <a:ext cx="8495070" cy="48713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80B313-D10D-C9F6-57AD-F1113B195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049" y="658759"/>
            <a:ext cx="1905165" cy="145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24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02549-8AC3-775A-F9D1-1C0BC2EF8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9D8F-8209-1725-EFA0-E499A55B3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5975"/>
            <a:ext cx="10131425" cy="1052052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Century Gothic" panose="020B0502020202020204" pitchFamily="34" charset="0"/>
              </a:rPr>
            </a:br>
            <a:r>
              <a:rPr lang="en-US" sz="4400" b="1" dirty="0">
                <a:latin typeface="Century Gothic" panose="020B0502020202020204" pitchFamily="34" charset="0"/>
              </a:rPr>
              <a:t>BUSINESS </a:t>
            </a:r>
            <a:r>
              <a:rPr lang="en-IN" sz="4400" b="1" dirty="0">
                <a:latin typeface="Century Gothic" panose="020B0502020202020204" pitchFamily="34" charset="0"/>
              </a:rPr>
              <a:t>Benefits</a:t>
            </a:r>
            <a:br>
              <a:rPr lang="en-US" sz="4000" b="1" dirty="0">
                <a:latin typeface="Century Gothic" panose="020B0502020202020204" pitchFamily="34" charset="0"/>
              </a:rPr>
            </a:br>
            <a:endParaRPr 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D82851E-6B75-9D54-5FC4-83CDE141D8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6581" y="3631910"/>
            <a:ext cx="78559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0384176-A430-81D7-8806-AAC6DF592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315" y="2738377"/>
            <a:ext cx="6469627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8B3ACC-F02A-850F-3D0D-73980FEA7D7E}"/>
              </a:ext>
            </a:extLst>
          </p:cNvPr>
          <p:cNvSpPr txBox="1"/>
          <p:nvPr/>
        </p:nvSpPr>
        <p:spPr>
          <a:xfrm>
            <a:off x="806246" y="1130710"/>
            <a:ext cx="8357419" cy="4857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Identifies high-risk accounts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Improves accuracy </a:t>
            </a:r>
          </a:p>
          <a:p>
            <a:pPr marL="342900" lvl="0" indent="-3429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Faster reporting</a:t>
            </a:r>
          </a:p>
          <a:p>
            <a:pPr marL="342900" lvl="0" indent="-3429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Reduced human errors</a:t>
            </a:r>
          </a:p>
          <a:p>
            <a:pPr marL="342900" indent="-3429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Saves time and manual effort </a:t>
            </a:r>
            <a:endParaRPr lang="en-IN" sz="2000" b="1" dirty="0">
              <a:solidFill>
                <a:schemeClr val="accent6">
                  <a:lumMod val="20000"/>
                  <a:lumOff val="80000"/>
                </a:schemeClr>
              </a:solidFill>
              <a:latin typeface="Century Gothic" panose="020B0502020202020204" pitchFamily="34" charset="0"/>
            </a:endParaRPr>
          </a:p>
          <a:p>
            <a:pPr marL="342900" lvl="0" indent="-3429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Better financial visibility</a:t>
            </a:r>
          </a:p>
          <a:p>
            <a:pPr marL="342900" lvl="0" indent="-3429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Improved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81105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BB058-4CD1-3BC5-4C84-42E832024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29265"/>
            <a:ext cx="10131425" cy="816077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Century Gothic" panose="020B0502020202020204" pitchFamily="34" charset="0"/>
              </a:rPr>
            </a:br>
            <a:r>
              <a:rPr lang="en-IN" b="1" dirty="0">
                <a:latin typeface="Century Gothic" panose="020B0502020202020204" pitchFamily="34" charset="0"/>
              </a:rPr>
              <a:t>Cloud &amp; System Disturbances</a:t>
            </a:r>
            <a:br>
              <a:rPr lang="en-IN" b="1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E3353-711C-6F4F-5AC9-6D8479966B3C}"/>
              </a:ext>
            </a:extLst>
          </p:cNvPr>
          <p:cNvSpPr txBox="1"/>
          <p:nvPr/>
        </p:nvSpPr>
        <p:spPr>
          <a:xfrm>
            <a:off x="685801" y="2202426"/>
            <a:ext cx="515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Rectangle 22">
            <a:extLst>
              <a:ext uri="{FF2B5EF4-FFF2-40B4-BE49-F238E27FC236}">
                <a16:creationId xmlns:a16="http://schemas.microsoft.com/office/drawing/2014/main" id="{ED6D0AA4-2104-135B-A9B8-9556039B6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448" y="1270345"/>
            <a:ext cx="9488129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accent6">
                  <a:lumMod val="20000"/>
                  <a:lumOff val="8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accent6">
                  <a:lumMod val="20000"/>
                  <a:lumOff val="8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accent6">
                  <a:lumMod val="20000"/>
                  <a:lumOff val="8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Many SAP systems now run on cloud platforms like </a:t>
            </a: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SAP S/4HANA Cloud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accent6">
                  <a:lumMod val="20000"/>
                  <a:lumOff val="80000"/>
                </a:schemeClr>
              </a:solidFill>
              <a:latin typeface="Century Gothic" panose="020B0502020202020204" pitchFamily="34" charset="0"/>
              <a:ea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3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Risks Include: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accent6">
                  <a:lumMod val="20000"/>
                  <a:lumOff val="80000"/>
                </a:schemeClr>
              </a:solidFill>
              <a:latin typeface="Century Gothic" panose="020B0502020202020204" pitchFamily="34" charset="0"/>
              <a:ea typeface="Calibri" panose="020F0502020204030204" pitchFamily="34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          Server downtime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          Network failures </a:t>
            </a:r>
            <a:endParaRPr lang="en-US" altLang="en-US" sz="2000" b="1" dirty="0">
              <a:solidFill>
                <a:schemeClr val="accent6">
                  <a:lumMod val="20000"/>
                  <a:lumOff val="80000"/>
                </a:schemeClr>
              </a:solidFill>
              <a:latin typeface="Century Gothic" panose="020B0502020202020204" pitchFamily="34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          Cloud outages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accent6">
                  <a:lumMod val="20000"/>
                  <a:lumOff val="80000"/>
                </a:schemeClr>
              </a:solidFill>
              <a:latin typeface="Century Gothic" panose="020B0502020202020204" pitchFamily="34" charset="0"/>
              <a:ea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3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Impact: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accent6">
                  <a:lumMod val="20000"/>
                  <a:lumOff val="80000"/>
                </a:schemeClr>
              </a:solidFill>
              <a:latin typeface="Century Gothic" panose="020B0502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         Delay in data extraction</a:t>
            </a:r>
            <a:endParaRPr lang="en-US" altLang="en-US" sz="2000" b="1" dirty="0">
              <a:solidFill>
                <a:schemeClr val="accent6">
                  <a:lumMod val="20000"/>
                  <a:lumOff val="80000"/>
                </a:schemeClr>
              </a:solidFill>
              <a:latin typeface="Century Gothic" panose="020B0502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         Interrupted automation</a:t>
            </a:r>
            <a:endParaRPr lang="en-US" altLang="en-US" sz="2000" b="1" dirty="0">
              <a:solidFill>
                <a:schemeClr val="accent6">
                  <a:lumMod val="20000"/>
                  <a:lumOff val="80000"/>
                </a:schemeClr>
              </a:solidFill>
              <a:latin typeface="Century Gothic" panose="020B0502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         Incomplete reports</a:t>
            </a:r>
            <a:endParaRPr lang="en-US" altLang="en-US" sz="2000" b="1" dirty="0">
              <a:solidFill>
                <a:schemeClr val="accent6">
                  <a:lumMod val="20000"/>
                  <a:lumOff val="80000"/>
                </a:schemeClr>
              </a:solidFill>
              <a:latin typeface="Century Gothic" panose="020B0502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4B6656F4-D87F-0F92-CEAF-531972D8A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8" y="431656"/>
            <a:ext cx="231154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415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515E5-F5ED-756A-2F76-E040C497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8BFB-C460-94F5-1FB0-3EBE071E0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5975"/>
            <a:ext cx="10131425" cy="1052052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Century Gothic" panose="020B0502020202020204" pitchFamily="34" charset="0"/>
              </a:rPr>
              <a:t>Risk Impact on Aging Analysis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3DA409F-D28F-595C-5087-4AE555B105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6581" y="3631910"/>
            <a:ext cx="78559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88B074C-6523-D897-989D-175F75930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476" y="3226090"/>
            <a:ext cx="6469627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248F7-8250-DD17-E491-FB0C8F836F61}"/>
              </a:ext>
            </a:extLst>
          </p:cNvPr>
          <p:cNvSpPr txBox="1"/>
          <p:nvPr/>
        </p:nvSpPr>
        <p:spPr>
          <a:xfrm>
            <a:off x="786581" y="1130710"/>
            <a:ext cx="8357419" cy="111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BCA7107-1AE4-CB46-5462-25E5BF3AC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96259"/>
            <a:ext cx="6629399" cy="3434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Delayed financial reporting</a:t>
            </a:r>
          </a:p>
          <a:p>
            <a:pPr marL="285750" lvl="0" indent="-28575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Inaccurate aging status</a:t>
            </a:r>
          </a:p>
          <a:p>
            <a:pPr marL="285750" lvl="0" indent="-28575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Missed payment follow-ups</a:t>
            </a:r>
          </a:p>
          <a:p>
            <a:pPr marL="285750" lvl="0" indent="-28575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Poor cash flow decisions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033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B3D25-783D-8653-0215-5E169DF7F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DAC32-BF26-A579-A6DC-116752D1F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5975"/>
            <a:ext cx="10131425" cy="105205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Mitigation Strategies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9F7006-1C55-D6E3-4325-70B9134C29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6581" y="3631910"/>
            <a:ext cx="78559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ACBD6AD-7F91-8594-D81A-E7F917A55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476" y="3226090"/>
            <a:ext cx="6469627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FC5EEE-9E1F-1922-F1FE-6B07C6AB67E0}"/>
              </a:ext>
            </a:extLst>
          </p:cNvPr>
          <p:cNvSpPr txBox="1"/>
          <p:nvPr/>
        </p:nvSpPr>
        <p:spPr>
          <a:xfrm>
            <a:off x="786581" y="1130710"/>
            <a:ext cx="8357419" cy="111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65D0E602-CBB4-EEBD-EC61-6D205F29E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581" y="1804127"/>
            <a:ext cx="808211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Schedule automated data exports and local backups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Use local Python processing (not fully cloud dependent)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Add validation checks for missing data </a:t>
            </a:r>
          </a:p>
          <a:p>
            <a:pPr marL="342900" indent="-342900" defTabSz="9144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Retry mechanisms in scripts</a:t>
            </a:r>
          </a:p>
          <a:p>
            <a:pPr marL="342900" indent="-342900" defTabSz="9144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Maintain offline data backups</a:t>
            </a:r>
            <a:endParaRPr lang="en-US" altLang="en-US" sz="2000" b="1" dirty="0">
              <a:solidFill>
                <a:schemeClr val="accent6">
                  <a:lumMod val="20000"/>
                  <a:lumOff val="80000"/>
                </a:schemeClr>
              </a:solidFill>
              <a:latin typeface="Century Gothic" panose="020B0502020202020204" pitchFamily="34" charset="0"/>
            </a:endParaRPr>
          </a:p>
          <a:p>
            <a:pPr marL="342900" indent="-342900" defTabSz="914400"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accent6">
                  <a:lumMod val="20000"/>
                  <a:lumOff val="80000"/>
                </a:schemeClr>
              </a:solidFill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618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1B7DF-F3D7-2584-680D-B1A6C07CC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444DA-50AB-A56A-258E-B0E0C72B6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737419"/>
            <a:ext cx="10131425" cy="11995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Challenges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76A750E-DD1D-8DA9-455F-55165B3DF5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6581" y="3631910"/>
            <a:ext cx="78559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A159980-564E-836F-57F2-2243FD091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0944" y="2370738"/>
            <a:ext cx="6469627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595A746-A302-CE36-DCBE-79EC397AD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581" y="1560562"/>
            <a:ext cx="9232490" cy="3803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285750" lvl="0" indent="-28575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Data inconsistency from SAP exports</a:t>
            </a:r>
          </a:p>
          <a:p>
            <a:pPr marL="285750" lvl="0" indent="-28575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Date format issues</a:t>
            </a:r>
          </a:p>
          <a:p>
            <a:pPr marL="285750" lvl="0" indent="-28575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Handling missing/incorrect data</a:t>
            </a:r>
          </a:p>
          <a:p>
            <a:pPr marL="285750" lvl="0" indent="-28575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Dependency on system/cloud availability</a:t>
            </a:r>
          </a:p>
        </p:txBody>
      </p:sp>
    </p:spTree>
    <p:extLst>
      <p:ext uri="{BB962C8B-B14F-4D97-AF65-F5344CB8AC3E}">
        <p14:creationId xmlns:p14="http://schemas.microsoft.com/office/powerpoint/2010/main" val="2202844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8EC3A-4ACB-0E51-DCB0-B3B746999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D141-5A20-2490-6D6C-0A455AB9B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78425"/>
            <a:ext cx="10131425" cy="1114408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Future Enhancements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7917A01-A047-7B7D-9E48-DEAEB58A5B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6581" y="3631910"/>
            <a:ext cx="78559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102F707-2381-DBC9-FF06-561DCFE2A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0944" y="2370738"/>
            <a:ext cx="6469627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698069E-0148-511A-C62E-1C6E5E7DA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1" y="1103978"/>
            <a:ext cx="7248831" cy="4572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342900" lvl="0" indent="-34290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Century Gothic" panose="020B0502020202020204" pitchFamily="34" charset="0"/>
              </a:rPr>
              <a:t>Real-time SAP integration APIs</a:t>
            </a:r>
          </a:p>
          <a:p>
            <a:pPr marL="342900" lvl="0" indent="-34290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Century Gothic" panose="020B0502020202020204" pitchFamily="34" charset="0"/>
              </a:rPr>
              <a:t>Automated alerts for overdue invoices</a:t>
            </a:r>
          </a:p>
          <a:p>
            <a:pPr marL="342900" lvl="0" indent="-34290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Century Gothic" panose="020B0502020202020204" pitchFamily="34" charset="0"/>
              </a:rPr>
              <a:t>Al-based payment prediction</a:t>
            </a:r>
          </a:p>
          <a:p>
            <a:pPr marL="342900" lvl="0" indent="-34290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Century Gothic" panose="020B0502020202020204" pitchFamily="34" charset="0"/>
              </a:rPr>
              <a:t>Dashboard integration with Tableau</a:t>
            </a:r>
          </a:p>
          <a:p>
            <a:pPr marL="285750" lvl="0" indent="-28575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IN" sz="2000" b="1" dirty="0">
              <a:solidFill>
                <a:schemeClr val="accent6">
                  <a:lumMod val="20000"/>
                  <a:lumOff val="8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964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79733-B475-3A54-20EE-DF36CA6E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841E-F58C-E531-B8CB-16FB0AC9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5975"/>
            <a:ext cx="10131425" cy="105205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entury Gothic" panose="020B0502020202020204" pitchFamily="34" charset="0"/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C329285-0AFD-337A-6994-03FBA01DE4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6581" y="3631910"/>
            <a:ext cx="78559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9504BD2-8074-16A5-2B4A-A236727CF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476" y="3226090"/>
            <a:ext cx="6469627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B82FAA-6090-1FEE-95D9-C039A51B6C09}"/>
              </a:ext>
            </a:extLst>
          </p:cNvPr>
          <p:cNvSpPr txBox="1"/>
          <p:nvPr/>
        </p:nvSpPr>
        <p:spPr>
          <a:xfrm>
            <a:off x="786581" y="1130710"/>
            <a:ext cx="8357419" cy="111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5ABE23A-B4D5-3AB2-426B-0B9A4FDA2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03" y="678613"/>
            <a:ext cx="9576621" cy="592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000" dirty="0">
              <a:latin typeface="Century Gothic" panose="020B0502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 Aging analysis is critical for finance teams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 Python enhances efficiency and scalability </a:t>
            </a:r>
          </a:p>
          <a:p>
            <a:pPr marL="285750" lvl="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  Python significantly improves SAP aging analysis</a:t>
            </a:r>
          </a:p>
          <a:p>
            <a:pPr marL="285750" lvl="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  Automation enhances accuracy and efficiency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 Integration with SAP data provides real-time insights 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  However, system reliability and cloud risks must be managed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452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451CE-FFFA-FCF7-AF66-4CCFD8EEB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507226"/>
            <a:ext cx="10131425" cy="1661651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latin typeface="Century Gothic" panose="020B0502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883297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{49C4D7B0-5A4B-4CB8-B860-5DCB6454CBEB}TFb5ae2469-0bae-4978-b0e0-39dd046150ff9a115ede-a9c3cc5252b0</Template>
  <TotalTime>273</TotalTime>
  <Words>516</Words>
  <Application>Microsoft Office PowerPoint</Application>
  <PresentationFormat>Widescreen</PresentationFormat>
  <Paragraphs>141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Century Gothic</vt:lpstr>
      <vt:lpstr>Wingdings</vt:lpstr>
      <vt:lpstr>Celestial</vt:lpstr>
      <vt:lpstr>                                                                  By                                                                   G.J.RaJALAKSHMI                                                                   IMMEK SOFTECH ACADEMY </vt:lpstr>
      <vt:lpstr>Problem Statement</vt:lpstr>
      <vt:lpstr>Objective</vt:lpstr>
      <vt:lpstr>AGING ANALYSIS</vt:lpstr>
      <vt:lpstr>Tools &amp; Technologies</vt:lpstr>
      <vt:lpstr>Why Python?</vt:lpstr>
      <vt:lpstr> System Workflow </vt:lpstr>
      <vt:lpstr>Data Input</vt:lpstr>
      <vt:lpstr> Process Steps </vt:lpstr>
      <vt:lpstr> Aging Bucket Classification </vt:lpstr>
      <vt:lpstr> Python Implementation </vt:lpstr>
      <vt:lpstr> Code SNIPPET </vt:lpstr>
      <vt:lpstr> Code Highlights </vt:lpstr>
      <vt:lpstr> Code Highlights </vt:lpstr>
      <vt:lpstr> OutPUT SAVED IN EXCEL For RECEIVABLES </vt:lpstr>
      <vt:lpstr> OutPUT SAVED IN EXCEL For RECEIVABLES </vt:lpstr>
      <vt:lpstr> BUSINESS Benefits </vt:lpstr>
      <vt:lpstr> Cloud &amp; System Disturbances </vt:lpstr>
      <vt:lpstr>Risk Impact on Aging Analysis</vt:lpstr>
      <vt:lpstr>Mitigation Strategies</vt:lpstr>
      <vt:lpstr>Challenges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Rajalakshmi Jayapal</dc:creator>
  <cp:lastModifiedBy>Rajalakshmi Jayapal</cp:lastModifiedBy>
  <cp:revision>5</cp:revision>
  <dcterms:created xsi:type="dcterms:W3CDTF">2026-04-05T14:22:21Z</dcterms:created>
  <dcterms:modified xsi:type="dcterms:W3CDTF">2026-04-15T16:57:48Z</dcterms:modified>
</cp:coreProperties>
</file>