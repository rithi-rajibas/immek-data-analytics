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4"/>
  </p:notesMasterIdLst>
  <p:handoutMasterIdLst>
    <p:handoutMasterId r:id="rId25"/>
  </p:handoutMasterIdLst>
  <p:sldIdLst>
    <p:sldId id="436" r:id="rId5"/>
    <p:sldId id="438" r:id="rId6"/>
    <p:sldId id="463" r:id="rId7"/>
    <p:sldId id="464" r:id="rId8"/>
    <p:sldId id="439" r:id="rId9"/>
    <p:sldId id="448" r:id="rId10"/>
    <p:sldId id="449" r:id="rId11"/>
    <p:sldId id="450" r:id="rId12"/>
    <p:sldId id="451" r:id="rId13"/>
    <p:sldId id="465" r:id="rId14"/>
    <p:sldId id="452" r:id="rId15"/>
    <p:sldId id="453" r:id="rId16"/>
    <p:sldId id="460" r:id="rId17"/>
    <p:sldId id="461" r:id="rId18"/>
    <p:sldId id="462" r:id="rId19"/>
    <p:sldId id="454" r:id="rId20"/>
    <p:sldId id="457" r:id="rId21"/>
    <p:sldId id="458" r:id="rId22"/>
    <p:sldId id="43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23FD19-DCE9-4D48-99B4-AA801E05F676}" v="1228" dt="2026-04-03T18:36:09.743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56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63" y="72"/>
      </p:cViewPr>
      <p:guideLst/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t>4/15/2026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0477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57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B0F96-51C4-4594-77C5-DD78C03FF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569F43-79D9-F3BB-96D8-B81D03D33A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1333F-AFDB-F785-43B1-986120C82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23E76-A540-58A3-FED3-ABAA4B53B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194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AA886-4CB8-7DF5-7F05-25AE7EBA5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259FC-CAFA-2712-4983-E3F477C40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D0A34-8283-87FA-1FE1-6A94A9655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239E2-D1B2-FC75-B82F-3B26E2F35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160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098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B5140-93AD-766A-C86B-0CBEC802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35B8E9-6FD3-F79B-2577-68EA48641F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A20FA1-729B-464E-B0F2-143A0D5EF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8DF1F-010C-3256-E38B-D43D56588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569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B95ED-774F-3124-B5C0-E2B41E18A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79A11-5F64-F11F-DF74-22AEF7251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F8228-16A9-9FA3-3FA9-FE1D5E0C7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4FFDE2-787A-34AF-F5FC-139273EB93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1898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7E913-1256-A071-8A2E-5F5093319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E52F3-A7C5-29AA-8CFF-87DEDB56F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5C3D2-20CC-D99F-D51B-B238BD7B0F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5480E-E739-20AC-63EA-690C9E8B4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3969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5B7A-1B1B-B5CB-C07F-0341C92AB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AE076-C685-1313-C6F8-EEDB40C60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7A3B2-FDEF-855D-A4DE-162310DD1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23212-2BCE-1952-20ED-44E77BB3F8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320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A17A6-10FC-1FDF-76B7-BC9EE2A46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CC9CFB-2004-84FB-3C32-B7480BBA3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8AE18F-4ECF-0550-5854-88C4A6169A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5DBF1-3CCC-D943-55CF-1DC0E36432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6646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8BF97-D174-95A7-1104-CFF09B3F6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4ACB2-135A-EC18-2894-573F8C1161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1F2653-2EE1-8EE5-DD4B-2432EB5ADB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0AEE7-40EA-3423-96B2-A9DF649CF3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854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22DD8-F992-5C2F-1942-E13EE834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D416C-B406-88B8-F6E4-FD6EF36012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E4F56-D866-70F1-9DB4-789D385E7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DE606-3029-8D67-3DEC-FCF782307A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961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478A3-E297-FDB8-0756-0ADBD9AAC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F04DD9-1AE9-E69A-8695-6FE506ACAD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104892-E7C3-09A1-BABA-73462790B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C98DA-0841-F556-5E9E-68F824428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9328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1D12B-8BBD-53BA-CAFE-DE1BDCFB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72CAB-6156-E93F-03EE-A444A93E33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0C07B-F815-11F2-CA5B-C72E9576F1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8916C8-86C6-0658-DC89-0F9A1EC261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507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4314-6F8D-1EFE-D2A7-675A2441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147FF1-061E-90A5-CE9B-403F969A9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FAEDB-8830-5739-A473-B6CF794C1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883F8-27E6-8A69-AE20-A88A26B00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41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DAFC80-83E7-074A-30D8-E600BB6B3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92F3E-DD1E-A099-716C-0F28E992E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8C417-9F53-AC35-8376-C35B1B884C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F9E35-57A9-8F01-5007-59F6AB499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9225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9182C-21F9-16E2-8A1A-5D6D96B22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BAB5A-3556-06E3-57DD-C7CD931A1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EEB321-A2EE-2F5A-C09E-AA470AF0C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BB0B2-B824-717F-A6E1-60232611A5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232796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D1A87-342E-FAAC-167C-DCC44D21B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25FC9-9D90-EC50-8557-DB45BFD03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DDFF67-42D1-E68B-0409-772FC3D59D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132CF-72CC-9681-2358-DCBC75C92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5560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469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1306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27875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90660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40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770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62912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954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737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42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308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72804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5040DA2-B75D-1B49-51F9-967501F7F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4876" y="887638"/>
            <a:ext cx="10202248" cy="5094496"/>
          </a:xfrm>
        </p:spPr>
        <p:txBody>
          <a:bodyPr/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93BDAB-CB06-403B-00FD-9D1C2812A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FB1FDB-9C8A-890A-5051-8D49E105F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 21">
            <a:extLst>
              <a:ext uri="{FF2B5EF4-FFF2-40B4-BE49-F238E27FC236}">
                <a16:creationId xmlns:a16="http://schemas.microsoft.com/office/drawing/2014/main" id="{46056E81-9CB5-42E9-6689-B711F575C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981493" y="0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22">
            <a:extLst>
              <a:ext uri="{FF2B5EF4-FFF2-40B4-BE49-F238E27FC236}">
                <a16:creationId xmlns:a16="http://schemas.microsoft.com/office/drawing/2014/main" id="{3D075254-6FC4-6738-BBBE-1BACB99E4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0910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>
                <a16:creationId xmlns:a16="http://schemas.microsoft.com/office/drawing/2014/main" id="{A18D9F31-445F-F144-A393-66C1BDE80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457002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4">
            <a:extLst>
              <a:ext uri="{FF2B5EF4-FFF2-40B4-BE49-F238E27FC236}">
                <a16:creationId xmlns:a16="http://schemas.microsoft.com/office/drawing/2014/main" id="{24F2F994-08EA-D901-82B7-02E175B2F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63EE949-1BE5-CFA7-69CC-5235FFE07F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8" y="1415562"/>
            <a:ext cx="5750171" cy="4009292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18">
            <a:extLst>
              <a:ext uri="{FF2B5EF4-FFF2-40B4-BE49-F238E27FC236}">
                <a16:creationId xmlns:a16="http://schemas.microsoft.com/office/drawing/2014/main" id="{A2B2C17F-12DD-A683-5602-F16A1C9647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7908" y="1"/>
            <a:ext cx="4314092" cy="6858000"/>
          </a:xfrm>
          <a:custGeom>
            <a:avLst/>
            <a:gdLst>
              <a:gd name="connsiteX0" fmla="*/ 3466352 w 4267200"/>
              <a:gd name="connsiteY0" fmla="*/ 0 h 6858000"/>
              <a:gd name="connsiteX1" fmla="*/ 4267200 w 4267200"/>
              <a:gd name="connsiteY1" fmla="*/ 0 h 6858000"/>
              <a:gd name="connsiteX2" fmla="*/ 4267200 w 4267200"/>
              <a:gd name="connsiteY2" fmla="*/ 6858000 h 6858000"/>
              <a:gd name="connsiteX3" fmla="*/ 0 w 4267200"/>
              <a:gd name="connsiteY3" fmla="*/ 6858000 h 6858000"/>
              <a:gd name="connsiteX4" fmla="*/ 0 w 4267200"/>
              <a:gd name="connsiteY4" fmla="*/ 3338980 h 6858000"/>
              <a:gd name="connsiteX5" fmla="*/ 8352 w 4267200"/>
              <a:gd name="connsiteY5" fmla="*/ 3162578 h 6858000"/>
              <a:gd name="connsiteX6" fmla="*/ 3132972 w 4267200"/>
              <a:gd name="connsiteY6" fmla="*/ 18059 h 6858000"/>
              <a:gd name="connsiteX7" fmla="*/ 3466352 w 4267200"/>
              <a:gd name="connsiteY7" fmla="*/ 122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67200" h="6858000">
                <a:moveTo>
                  <a:pt x="3466352" y="0"/>
                </a:moveTo>
                <a:lnTo>
                  <a:pt x="4267200" y="0"/>
                </a:lnTo>
                <a:lnTo>
                  <a:pt x="4267200" y="6858000"/>
                </a:lnTo>
                <a:lnTo>
                  <a:pt x="0" y="6858000"/>
                </a:lnTo>
                <a:lnTo>
                  <a:pt x="0" y="3338980"/>
                </a:lnTo>
                <a:lnTo>
                  <a:pt x="8352" y="3162578"/>
                </a:lnTo>
                <a:cubicBezTo>
                  <a:pt x="166042" y="1505839"/>
                  <a:pt x="1479242" y="186005"/>
                  <a:pt x="3132972" y="18059"/>
                </a:cubicBezTo>
                <a:lnTo>
                  <a:pt x="3466352" y="1225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</p:spPr>
        <p:txBody>
          <a:bodyPr wrap="square" lIns="1463040" tIns="822960" rIns="1463040" anchor="t" anchorCtr="0">
            <a:noAutofit/>
          </a:bodyPr>
          <a:lstStyle>
            <a:lvl1pPr marL="0" indent="0" algn="ctr">
              <a:buNone/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92449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Content and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179D789-F69C-8306-0C19-DF73E69167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6415" y="360485"/>
            <a:ext cx="5032725" cy="3284203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2003524-9DE3-1117-2E91-80A1CB96DE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308475" cy="6858000"/>
          </a:xfrm>
          <a:custGeom>
            <a:avLst/>
            <a:gdLst>
              <a:gd name="connsiteX0" fmla="*/ 0 w 4308475"/>
              <a:gd name="connsiteY0" fmla="*/ 0 h 6858000"/>
              <a:gd name="connsiteX1" fmla="*/ 4308475 w 4308475"/>
              <a:gd name="connsiteY1" fmla="*/ 0 h 6858000"/>
              <a:gd name="connsiteX2" fmla="*/ 4308475 w 4308475"/>
              <a:gd name="connsiteY2" fmla="*/ 3390898 h 6858000"/>
              <a:gd name="connsiteX3" fmla="*/ 4307536 w 4308475"/>
              <a:gd name="connsiteY3" fmla="*/ 3390898 h 6858000"/>
              <a:gd name="connsiteX4" fmla="*/ 4290702 w 4308475"/>
              <a:gd name="connsiteY4" fmla="*/ 3724279 h 6858000"/>
              <a:gd name="connsiteX5" fmla="*/ 1146183 w 4308475"/>
              <a:gd name="connsiteY5" fmla="*/ 6848898 h 6858000"/>
              <a:gd name="connsiteX6" fmla="*/ 953984 w 4308475"/>
              <a:gd name="connsiteY6" fmla="*/ 6857998 h 6858000"/>
              <a:gd name="connsiteX7" fmla="*/ 4308475 w 4308475"/>
              <a:gd name="connsiteY7" fmla="*/ 6857998 h 6858000"/>
              <a:gd name="connsiteX8" fmla="*/ 4308475 w 4308475"/>
              <a:gd name="connsiteY8" fmla="*/ 6858000 h 6858000"/>
              <a:gd name="connsiteX9" fmla="*/ 0 w 430847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08475" h="6858000">
                <a:moveTo>
                  <a:pt x="0" y="0"/>
                </a:moveTo>
                <a:lnTo>
                  <a:pt x="4308475" y="0"/>
                </a:lnTo>
                <a:lnTo>
                  <a:pt x="4308475" y="3390898"/>
                </a:lnTo>
                <a:lnTo>
                  <a:pt x="4307536" y="3390898"/>
                </a:lnTo>
                <a:lnTo>
                  <a:pt x="4290702" y="3724279"/>
                </a:lnTo>
                <a:cubicBezTo>
                  <a:pt x="4122756" y="5378008"/>
                  <a:pt x="2802922" y="6691208"/>
                  <a:pt x="1146183" y="6848898"/>
                </a:cubicBezTo>
                <a:lnTo>
                  <a:pt x="953984" y="6857998"/>
                </a:lnTo>
                <a:lnTo>
                  <a:pt x="4308475" y="6857998"/>
                </a:lnTo>
                <a:lnTo>
                  <a:pt x="4308475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FE5C55B8-DD4C-A859-38F5-CC8FE0920B8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676306" y="3846391"/>
            <a:ext cx="5032725" cy="213671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 marL="457200" indent="0">
              <a:buNone/>
              <a:defRPr sz="1600">
                <a:solidFill>
                  <a:schemeClr val="bg2"/>
                </a:solidFill>
              </a:defRPr>
            </a:lvl2pPr>
            <a:lvl3pPr marL="914400" indent="0">
              <a:buNone/>
              <a:defRPr sz="1400">
                <a:solidFill>
                  <a:schemeClr val="bg2"/>
                </a:solidFill>
              </a:defRPr>
            </a:lvl3pPr>
            <a:lvl4pPr marL="1371600" indent="0">
              <a:buNone/>
              <a:defRPr sz="1200">
                <a:solidFill>
                  <a:schemeClr val="bg2"/>
                </a:solidFill>
              </a:defRPr>
            </a:lvl4pPr>
            <a:lvl5pPr marL="1828800" indent="0">
              <a:buNone/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6DC123BA-30A1-50DE-FC24-33C67A8FA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4308762" y="3390898"/>
            <a:ext cx="3354778" cy="3467100"/>
          </a:xfrm>
          <a:custGeom>
            <a:avLst/>
            <a:gdLst>
              <a:gd name="connsiteX0" fmla="*/ 0 w 2353172"/>
              <a:gd name="connsiteY0" fmla="*/ 0 h 2431959"/>
              <a:gd name="connsiteX1" fmla="*/ 2353172 w 2353172"/>
              <a:gd name="connsiteY1" fmla="*/ 0 h 2431959"/>
              <a:gd name="connsiteX2" fmla="*/ 2353172 w 2353172"/>
              <a:gd name="connsiteY2" fmla="*/ 2431959 h 2431959"/>
              <a:gd name="connsiteX3" fmla="*/ 2352312 w 2353172"/>
              <a:gd name="connsiteY3" fmla="*/ 2431959 h 2431959"/>
              <a:gd name="connsiteX4" fmla="*/ 2340504 w 2353172"/>
              <a:gd name="connsiteY4" fmla="*/ 2198113 h 2431959"/>
              <a:gd name="connsiteX5" fmla="*/ 134816 w 2353172"/>
              <a:gd name="connsiteY5" fmla="*/ 6383 h 2431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53172" h="2431959">
                <a:moveTo>
                  <a:pt x="0" y="0"/>
                </a:moveTo>
                <a:lnTo>
                  <a:pt x="2353172" y="0"/>
                </a:lnTo>
                <a:lnTo>
                  <a:pt x="2353172" y="2431959"/>
                </a:lnTo>
                <a:lnTo>
                  <a:pt x="2352312" y="2431959"/>
                </a:lnTo>
                <a:lnTo>
                  <a:pt x="2340504" y="2198113"/>
                </a:lnTo>
                <a:cubicBezTo>
                  <a:pt x="2222700" y="1038123"/>
                  <a:pt x="1296917" y="116993"/>
                  <a:pt x="134816" y="6383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0470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3FFEEC7-A0A7-27CB-3F2D-796281DCDC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104"/>
            <a:ext cx="12192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20">
            <a:extLst>
              <a:ext uri="{FF2B5EF4-FFF2-40B4-BE49-F238E27FC236}">
                <a16:creationId xmlns:a16="http://schemas.microsoft.com/office/drawing/2014/main" id="{2DCCFF86-2471-421E-E5FF-E38943252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0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21">
            <a:extLst>
              <a:ext uri="{FF2B5EF4-FFF2-40B4-BE49-F238E27FC236}">
                <a16:creationId xmlns:a16="http://schemas.microsoft.com/office/drawing/2014/main" id="{8300B484-623C-071D-E849-138F76141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5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99A6249F-0E28-0ABF-FE63-7ECC0E1062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805" y="344399"/>
            <a:ext cx="9599008" cy="172954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CC29225-33B5-6D19-F0BA-DE3F864F640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0867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FB67020D-DF60-17C1-8DEC-EDECF653540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318375" y="2274034"/>
            <a:ext cx="4643438" cy="329863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5812651-A64E-FA0C-7D84-B20BA7C67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64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181407F-D7F6-56CB-135C-01868BC191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7" y="1088211"/>
            <a:ext cx="4602483" cy="4896019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517585-E867-BB06-B195-272DA0F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8"/>
            <a:ext cx="12192000" cy="873925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2D9EBD-88FB-A2C3-7EC2-46DD7B532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0939" y="2990938"/>
            <a:ext cx="6855801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Freeform 22">
            <a:extLst>
              <a:ext uri="{FF2B5EF4-FFF2-40B4-BE49-F238E27FC236}">
                <a16:creationId xmlns:a16="http://schemas.microsoft.com/office/drawing/2014/main" id="{CB417425-9078-B6E8-97F7-BAA1536BA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8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D7F56B38-71B8-A745-8D9C-BBEA278F3F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9905999" y="4572027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5E5C644-63C0-D8A4-7EF1-1681AFB1F4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324599" y="1088210"/>
            <a:ext cx="4373564" cy="4894894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 b="1">
                <a:solidFill>
                  <a:schemeClr val="bg2"/>
                </a:solidFill>
              </a:defRPr>
            </a:lvl1pPr>
            <a:lvl2pPr marL="457200" indent="0">
              <a:spcBef>
                <a:spcPts val="0"/>
              </a:spcBef>
              <a:spcAft>
                <a:spcPts val="600"/>
              </a:spcAft>
              <a:buNone/>
              <a:defRPr sz="1600" b="1">
                <a:solidFill>
                  <a:schemeClr val="bg2"/>
                </a:solidFill>
              </a:defRPr>
            </a:lvl2pPr>
            <a:lvl3pPr marL="914400" indent="0">
              <a:spcBef>
                <a:spcPts val="0"/>
              </a:spcBef>
              <a:spcAft>
                <a:spcPts val="600"/>
              </a:spcAft>
              <a:buNone/>
              <a:defRPr sz="1400" b="1">
                <a:solidFill>
                  <a:schemeClr val="bg2"/>
                </a:solidFill>
              </a:defRPr>
            </a:lvl3pPr>
            <a:lvl4pPr marL="13716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4pPr>
            <a:lvl5pPr marL="1828800" indent="0">
              <a:spcBef>
                <a:spcPts val="0"/>
              </a:spcBef>
              <a:spcAft>
                <a:spcPts val="600"/>
              </a:spcAft>
              <a:buNone/>
              <a:defRPr sz="12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95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6" r:id="rId13"/>
    <p:sldLayoutId id="2147483727" r:id="rId14"/>
    <p:sldLayoutId id="2147483730" r:id="rId15"/>
    <p:sldLayoutId id="214748373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jpe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0D9AD-F97D-8DCF-97C2-FEE69475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284" y="369331"/>
            <a:ext cx="10744840" cy="1311985"/>
          </a:xfrm>
        </p:spPr>
        <p:txBody>
          <a:bodyPr>
            <a:normAutofit fontScale="90000"/>
          </a:bodyPr>
          <a:lstStyle/>
          <a:p>
            <a:br>
              <a:rPr lang="en-IN" sz="4400" b="1" dirty="0">
                <a:latin typeface="Century Gothic" panose="020B0502020202020204" pitchFamily="34" charset="0"/>
              </a:rPr>
            </a:br>
            <a:br>
              <a:rPr lang="en-IN" sz="4400" b="1" dirty="0">
                <a:latin typeface="Century Gothic" panose="020B0502020202020204" pitchFamily="34" charset="0"/>
              </a:rPr>
            </a:br>
            <a:br>
              <a:rPr lang="en-IN" sz="4400" b="1" dirty="0">
                <a:latin typeface="Century Gothic" panose="020B0502020202020204" pitchFamily="34" charset="0"/>
              </a:rPr>
            </a:br>
            <a:br>
              <a:rPr lang="en-IN" sz="4400" b="1" dirty="0">
                <a:latin typeface="Century Gothic" panose="020B0502020202020204" pitchFamily="34" charset="0"/>
              </a:rPr>
            </a:br>
            <a:br>
              <a:rPr lang="en-IN" sz="4400" b="1" dirty="0">
                <a:latin typeface="Century Gothic" panose="020B0502020202020204" pitchFamily="34" charset="0"/>
              </a:rPr>
            </a:br>
            <a:r>
              <a:rPr lang="en-IN" sz="4400" b="1" dirty="0">
                <a:latin typeface="Century Gothic" panose="020B0502020202020204" pitchFamily="34" charset="0"/>
              </a:rPr>
              <a:t>Automatic Exam Marks Filling using xlwings</a:t>
            </a:r>
            <a:br>
              <a:rPr lang="en-IN" sz="4400" b="1" dirty="0">
                <a:latin typeface="Century Gothic" panose="020B0502020202020204" pitchFamily="34" charset="0"/>
              </a:rPr>
            </a:br>
            <a:br>
              <a:rPr lang="en-IN" sz="4400" b="1" dirty="0">
                <a:latin typeface="Century Gothic" panose="020B0502020202020204" pitchFamily="34" charset="0"/>
              </a:rPr>
            </a:br>
            <a:br>
              <a:rPr lang="en-IN" sz="4000" b="1" dirty="0">
                <a:latin typeface="Century Gothic" panose="020B0502020202020204" pitchFamily="34" charset="0"/>
              </a:rPr>
            </a:br>
            <a:r>
              <a:rPr lang="en-IN" sz="4000" b="1" dirty="0">
                <a:latin typeface="Century Gothic" panose="020B0502020202020204" pitchFamily="34" charset="0"/>
              </a:rPr>
              <a:t>    </a:t>
            </a:r>
            <a:r>
              <a:rPr lang="en-US" sz="3100" b="1" dirty="0">
                <a:latin typeface="Century Gothic" panose="020B0502020202020204" pitchFamily="34" charset="0"/>
              </a:rPr>
              <a:t>Enhanced with Optimized Data Handling Approach</a:t>
            </a:r>
            <a:br>
              <a:rPr lang="en-US" sz="3100" b="1" dirty="0">
                <a:latin typeface="Century Gothic" panose="020B0502020202020204" pitchFamily="34" charset="0"/>
              </a:rPr>
            </a:br>
            <a:endParaRPr lang="en-US" sz="3100" b="1" dirty="0"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9882FA-049D-25F3-3F24-590E9D0F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1EFB92-22B9-47FD-0BFC-3F9D8EBDA32D}"/>
              </a:ext>
            </a:extLst>
          </p:cNvPr>
          <p:cNvSpPr txBox="1"/>
          <p:nvPr/>
        </p:nvSpPr>
        <p:spPr>
          <a:xfrm>
            <a:off x="6705600" y="3076105"/>
            <a:ext cx="5093110" cy="2632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IN" sz="3200" kern="100" dirty="0">
              <a:solidFill>
                <a:schemeClr val="accent3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G.J.Rajalakshmi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kern="100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Immek Softech Academy</a:t>
            </a:r>
            <a:endParaRPr lang="en-IN" sz="3200" b="1" kern="100" dirty="0">
              <a:solidFill>
                <a:schemeClr val="accent3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31CA67-CBBC-E71D-3582-97D14B88F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729" y="3657599"/>
            <a:ext cx="5235394" cy="213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04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B282789-4F8B-D647-09EB-50D8FF68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74" y="324465"/>
            <a:ext cx="7308745" cy="180913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latin typeface="Century Gothic" panose="020B0502020202020204" pitchFamily="34" charset="0"/>
              </a:rPr>
              <a:t>Project Overview</a:t>
            </a:r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2EBC5878-1007-0F8E-3940-DE9D1D088B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8ECD88-7563-0E2D-38D6-262477CFE5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6EBAEB-D1BD-B76F-B023-06DF37762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642" y="1966451"/>
            <a:ext cx="3841035" cy="4635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455BD5-5188-E748-127B-961DD6B5D461}"/>
              </a:ext>
            </a:extLst>
          </p:cNvPr>
          <p:cNvSpPr txBox="1"/>
          <p:nvPr/>
        </p:nvSpPr>
        <p:spPr>
          <a:xfrm>
            <a:off x="747252" y="2603668"/>
            <a:ext cx="6096000" cy="2764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Automated marks entry using Python xlwings 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Direct interaction with Excel sheets 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Fast, accurate, and efficient process 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IN" sz="20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Reduces manual effort significantly </a:t>
            </a:r>
          </a:p>
        </p:txBody>
      </p:sp>
    </p:spTree>
    <p:extLst>
      <p:ext uri="{BB962C8B-B14F-4D97-AF65-F5344CB8AC3E}">
        <p14:creationId xmlns:p14="http://schemas.microsoft.com/office/powerpoint/2010/main" val="31241753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FE737-6A0B-5CE4-BB80-F09A5E9DF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B9C88FB0-7AEA-6148-03E0-7A60EA6B2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415" y="68826"/>
            <a:ext cx="5837159" cy="1359556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Current Challenge</a:t>
            </a:r>
            <a:br>
              <a:rPr lang="en-IN" sz="4000" b="1" dirty="0">
                <a:latin typeface="Century Gothic" panose="020B0502020202020204" pitchFamily="34" charset="0"/>
              </a:rPr>
            </a:br>
            <a:br>
              <a:rPr lang="en-IN" sz="4000" dirty="0"/>
            </a:br>
            <a:r>
              <a:rPr lang="en-US" sz="1800" b="1" dirty="0">
                <a:latin typeface="Century Gothic" panose="020B0502020202020204" pitchFamily="34" charset="0"/>
              </a:rPr>
              <a:t>Limitations of SQL Queries in Real-Time Web Apps</a:t>
            </a:r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AFCA042D-DB87-2351-13E3-D58065E59480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100E52-2AD1-38C9-862C-5475B69FD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768B4C-1BBF-9F27-8C86-FA46F9A94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09" y="1750143"/>
            <a:ext cx="3186408" cy="4054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0EE078-4F3F-F139-62BC-A044E6A81490}"/>
              </a:ext>
            </a:extLst>
          </p:cNvPr>
          <p:cNvSpPr txBox="1"/>
          <p:nvPr/>
        </p:nvSpPr>
        <p:spPr>
          <a:xfrm>
            <a:off x="5574891" y="1750143"/>
            <a:ext cx="6105832" cy="391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fontAlgn="base">
              <a:lnSpc>
                <a:spcPct val="250000"/>
              </a:lnSpc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Frequent SQL queries increase server load</a:t>
            </a:r>
            <a:endParaRPr lang="en-IN" sz="2000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0" fontAlgn="base">
              <a:lnSpc>
                <a:spcPct val="250000"/>
              </a:lnSpc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Latency affects user experience</a:t>
            </a:r>
            <a:endParaRPr lang="en-IN" sz="2000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0" fontAlgn="base">
              <a:lnSpc>
                <a:spcPct val="250000"/>
              </a:lnSpc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Every page update triggers a new DB call</a:t>
            </a:r>
            <a:endParaRPr lang="en-IN" sz="2000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0" fontAlgn="base">
              <a:lnSpc>
                <a:spcPct val="250000"/>
              </a:lnSpc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Overhead grows with the number of users</a:t>
            </a:r>
            <a:endParaRPr lang="en-IN" sz="2000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800" b="1" kern="100" dirty="0">
              <a:solidFill>
                <a:schemeClr val="accent3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854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06AB0-9570-74E7-2914-3B347A127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F4C29FDF-6EA1-FD90-2AAD-84B631235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74" y="324465"/>
            <a:ext cx="7308745" cy="180913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Proposed Enhancement</a:t>
            </a:r>
            <a:endParaRPr lang="en-US" sz="4000" b="1" dirty="0">
              <a:latin typeface="Century Gothic" panose="020B0502020202020204" pitchFamily="34" charset="0"/>
            </a:endParaRPr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AD63D37B-4E60-861C-EA84-13D0DCFDEF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4FB04-AC7C-AC61-11C5-0A26D52F8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3A6612-1E4A-E455-8F71-276919802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642" y="1966451"/>
            <a:ext cx="3841035" cy="4635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6D05FA-A092-6DF4-3CB9-32D003CCCB3D}"/>
              </a:ext>
            </a:extLst>
          </p:cNvPr>
          <p:cNvSpPr txBox="1"/>
          <p:nvPr/>
        </p:nvSpPr>
        <p:spPr>
          <a:xfrm>
            <a:off x="521109" y="1966451"/>
            <a:ext cx="6617110" cy="3635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Replace live SQL queries with preprocessed data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Use structured Excel/CSV/JSON data instead of     repeated DB queries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Organize data by Roll Number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Use Python + xlwings to auto-fill marksheets</a:t>
            </a:r>
          </a:p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Use this data to instantly populate the web page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5746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37F92FBB-F1A6-DCA3-4B03-5EA99AE4B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415" y="360485"/>
            <a:ext cx="5837159" cy="176328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Tools &amp; Technologies</a:t>
            </a:r>
            <a:br>
              <a:rPr lang="en-IN" sz="4000" dirty="0"/>
            </a:br>
            <a:endParaRPr lang="en-US" sz="4000" dirty="0"/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61357E36-869D-B6D4-3E6E-ED43A227E59C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6BE44FC-E43E-3153-168E-0A84BD9E6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BCB6B-CE1E-0A42-0A8C-0C30A002F3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09" y="1750143"/>
            <a:ext cx="3186408" cy="40543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A69E63-B8F7-F165-2728-C4E8E8793E63}"/>
              </a:ext>
            </a:extLst>
          </p:cNvPr>
          <p:cNvSpPr txBox="1"/>
          <p:nvPr/>
        </p:nvSpPr>
        <p:spPr>
          <a:xfrm>
            <a:off x="5767362" y="2339126"/>
            <a:ext cx="5129238" cy="3723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🐍</a:t>
            </a:r>
            <a:r>
              <a:rPr lang="en-IN" sz="28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Python 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📊</a:t>
            </a:r>
            <a:r>
              <a:rPr lang="en-IN" sz="28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Excel 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🔗</a:t>
            </a:r>
            <a:r>
              <a:rPr lang="en-IN" sz="28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xlwings library 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Segoe UI Emoji" panose="020B0502040204020203" pitchFamily="34" charset="0"/>
                <a:ea typeface="Calibri" panose="020F0502020204030204" pitchFamily="34" charset="0"/>
                <a:cs typeface="Segoe UI Emoji" panose="020B0502040204020203" pitchFamily="34" charset="0"/>
              </a:rPr>
              <a:t>💻</a:t>
            </a:r>
            <a:r>
              <a:rPr lang="en-IN" sz="28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Jupyter Notebook</a:t>
            </a:r>
          </a:p>
        </p:txBody>
      </p:sp>
    </p:spTree>
    <p:extLst>
      <p:ext uri="{BB962C8B-B14F-4D97-AF65-F5344CB8AC3E}">
        <p14:creationId xmlns:p14="http://schemas.microsoft.com/office/powerpoint/2010/main" val="2701710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A61A4-CC1F-9513-5DE0-52F84062BD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EA0CA34-8907-0F47-049C-A28FDF14D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74" y="324465"/>
            <a:ext cx="7308745" cy="1809135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Workflow Process</a:t>
            </a:r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A4FC26E1-A933-6283-4179-CE7DF1B11BE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768B5-1FD6-DB40-0C1E-F06E1E34E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13A91F-15A1-F92F-BFD1-86B3D9E286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642" y="1966451"/>
            <a:ext cx="3841035" cy="4635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E630ADB-41FC-66A4-8527-FEFCC214401C}"/>
              </a:ext>
            </a:extLst>
          </p:cNvPr>
          <p:cNvSpPr txBox="1"/>
          <p:nvPr/>
        </p:nvSpPr>
        <p:spPr>
          <a:xfrm>
            <a:off x="698091" y="2356039"/>
            <a:ext cx="6096000" cy="30721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Input student data / marks sheet template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Python script reads input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xlwings connects to Excel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Marks are processed/calculated </a:t>
            </a:r>
          </a:p>
          <a:p>
            <a:pPr marL="285750" lvl="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Output automatically updated in Excel </a:t>
            </a:r>
          </a:p>
        </p:txBody>
      </p:sp>
    </p:spTree>
    <p:extLst>
      <p:ext uri="{BB962C8B-B14F-4D97-AF65-F5344CB8AC3E}">
        <p14:creationId xmlns:p14="http://schemas.microsoft.com/office/powerpoint/2010/main" val="590080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ED47C-2BF8-E562-457F-5B22190BC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D5A38DD7-350D-A6E7-7D3E-50CBA3AB3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1" y="360486"/>
            <a:ext cx="7246374" cy="1389658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Optimized Data Flow</a:t>
            </a:r>
            <a:br>
              <a:rPr lang="en-IN" sz="4000" dirty="0"/>
            </a:br>
            <a:endParaRPr lang="en-US" sz="4000" dirty="0"/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04B389D6-E018-E2F1-9726-0CEE936AC0C3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>
          <a:xfrm>
            <a:off x="1" y="0"/>
            <a:ext cx="3421626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6BF988-50F1-BBF2-CCF2-594D5350FB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8B9081-8493-1296-7CBC-F18195CB8D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09" y="1750143"/>
            <a:ext cx="3186408" cy="40543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4A92B3-DAE8-A263-CC5F-086D18D1B412}"/>
              </a:ext>
            </a:extLst>
          </p:cNvPr>
          <p:cNvSpPr txBox="1"/>
          <p:nvPr/>
        </p:nvSpPr>
        <p:spPr>
          <a:xfrm>
            <a:off x="5299588" y="1750143"/>
            <a:ext cx="3844412" cy="3432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Database / Input File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Convert to CSV/JSON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Roll Number Lookup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Python Processing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Excel Output Generation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917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028B5-0078-F0F4-F9B5-E37799C4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8A97BEF5-4AD5-926C-2DBA-2937F550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74" y="324465"/>
            <a:ext cx="7308745" cy="180913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Key Features</a:t>
            </a:r>
            <a:endParaRPr lang="en-US" sz="4000" b="1" dirty="0">
              <a:latin typeface="Century Gothic" panose="020B0502020202020204" pitchFamily="34" charset="0"/>
            </a:endParaRPr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AA31E03B-C184-FE12-98C0-0964A9E9E21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84845-58D2-9AB5-E32C-A2B1996259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88426F-5E35-32F7-57B5-D3071A19D7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642" y="1966451"/>
            <a:ext cx="3841035" cy="4635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547001-2927-BDE6-98A9-E5A52BEA7C04}"/>
              </a:ext>
            </a:extLst>
          </p:cNvPr>
          <p:cNvSpPr txBox="1"/>
          <p:nvPr/>
        </p:nvSpPr>
        <p:spPr>
          <a:xfrm>
            <a:off x="747251" y="1966451"/>
            <a:ext cx="6046840" cy="4124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Automatic data entry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Error reduction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Time-saving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Easy to use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Scalable for large datasets</a:t>
            </a:r>
          </a:p>
          <a:p>
            <a:pPr lvl="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86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ABB39-4B93-C0FF-2738-BEAB1E3E6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CA0751F0-3269-C7A6-B419-CED4D7BE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1" y="360486"/>
            <a:ext cx="7246374" cy="986533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Benefits</a:t>
            </a:r>
            <a:endParaRPr lang="en-US" sz="4000" b="1" dirty="0">
              <a:latin typeface="Century Gothic" panose="020B0502020202020204" pitchFamily="34" charset="0"/>
            </a:endParaRPr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DD0A762C-9269-01F4-8007-19D3464BF8F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>
          <a:xfrm>
            <a:off x="245051" y="360486"/>
            <a:ext cx="4159801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BFE999-FA53-AE82-2779-78E181F41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023302-4DEF-34B1-31F4-0AA3DE250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76" y="1750143"/>
            <a:ext cx="3186408" cy="40543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08D13F-FFE4-E698-7024-F7634CC69510}"/>
              </a:ext>
            </a:extLst>
          </p:cNvPr>
          <p:cNvSpPr txBox="1"/>
          <p:nvPr/>
        </p:nvSpPr>
        <p:spPr>
          <a:xfrm>
            <a:off x="5083277" y="1750143"/>
            <a:ext cx="6430299" cy="4918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Faster processing (no repeated queries)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Reduced server/database load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Improved efficiency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Accurate calculations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Scalable for thousands of users </a:t>
            </a:r>
            <a:br>
              <a:rPr lang="en-US" alt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</a:br>
            <a:r>
              <a:rPr lang="en-US" alt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  <a:ea typeface="Calibri" panose="020F0502020204030204" pitchFamily="34" charset="0"/>
              </a:rPr>
              <a:t>Easier to cache and distribute</a:t>
            </a:r>
            <a:endParaRPr lang="en-US" sz="2000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Easy maintenance</a:t>
            </a: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IN" sz="2000" b="1" kern="100" dirty="0">
              <a:solidFill>
                <a:schemeClr val="accent3">
                  <a:lumMod val="75000"/>
                </a:schemeClr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5" name="Picture 7451">
            <a:extLst>
              <a:ext uri="{FF2B5EF4-FFF2-40B4-BE49-F238E27FC236}">
                <a16:creationId xmlns:a16="http://schemas.microsoft.com/office/drawing/2014/main" id="{478199B3-CD29-F7DB-53EF-751A2639B6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263" cy="6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31B6040-B8A7-1450-4DF4-C220DA727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4847"/>
            <a:ext cx="21993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7F1195-6CB1-9693-B78F-9F4D1D42E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Scalable for thousands of users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7451">
            <a:extLst>
              <a:ext uri="{FF2B5EF4-FFF2-40B4-BE49-F238E27FC236}">
                <a16:creationId xmlns:a16="http://schemas.microsoft.com/office/drawing/2014/main" id="{678312CE-63E4-97EC-E536-ED011AB73F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68263" cy="68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AC471F-415D-E996-44EB-B921C7626F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22066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Easier to cache and distribute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814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552B5-9BE7-A10C-117E-3D09FCB4D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884BFF5-5966-145A-29B8-57AD3B94C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74" y="324465"/>
            <a:ext cx="7308745" cy="180913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Century Gothic" panose="020B0502020202020204" pitchFamily="34" charset="0"/>
              </a:rPr>
              <a:t>Use Cases</a:t>
            </a:r>
            <a:endParaRPr lang="en-US" sz="4000" b="1" dirty="0">
              <a:latin typeface="Century Gothic" panose="020B0502020202020204" pitchFamily="34" charset="0"/>
            </a:endParaRPr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D9E2C04A-D8E1-8A83-DE40-FEF8C53E67D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49FB9-060F-52AE-717F-A262C6398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1AAC13-8718-0D83-C420-57C8AA221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642" y="1966451"/>
            <a:ext cx="3841035" cy="4635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6C8F28-58EF-F58E-BCC8-9B6BAFBFD5EA}"/>
              </a:ext>
            </a:extLst>
          </p:cNvPr>
          <p:cNvSpPr txBox="1"/>
          <p:nvPr/>
        </p:nvSpPr>
        <p:spPr>
          <a:xfrm>
            <a:off x="747251" y="1966451"/>
            <a:ext cx="6046840" cy="2775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Student result or attendance dashboards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Public-facing data portals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Internal tools with frequent reads but infrequent writes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Offline-friendly web apps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0197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CA57-B13B-80AA-5F79-0084E31EB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B3892E0-2741-1FB6-B010-CB1C4470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74" y="324465"/>
            <a:ext cx="7308745" cy="134802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Input Data</a:t>
            </a:r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860AF73C-EC64-61EC-3709-8E925ACA7FC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F9A5B-E386-08C5-17EC-9F00081F1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C32134-257C-6706-4AE1-C2B03B3B5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642" y="1966451"/>
            <a:ext cx="3841035" cy="46359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13C02A6-3F86-788E-1E3F-DEA7F795C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701" y="2096730"/>
            <a:ext cx="6523285" cy="95372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891933D-9BC5-75E4-F341-C4B53153F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702" y="3807542"/>
            <a:ext cx="6685538" cy="14920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037C05A-8C62-07F9-5DEA-BF66B131445A}"/>
              </a:ext>
            </a:extLst>
          </p:cNvPr>
          <p:cNvSpPr txBox="1"/>
          <p:nvPr/>
        </p:nvSpPr>
        <p:spPr>
          <a:xfrm>
            <a:off x="187211" y="329003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bg2"/>
                </a:solidFill>
                <a:latin typeface="Century Gothic" panose="020B0502020202020204" pitchFamily="34" charset="0"/>
              </a:rPr>
              <a:t>Student Exam Marks sheet template/Input data</a:t>
            </a:r>
            <a:endParaRPr lang="en-IN" dirty="0">
              <a:solidFill>
                <a:schemeClr val="bg2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4D2DF26-1ED1-90CE-2AC5-8520F505C3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701" y="5299587"/>
            <a:ext cx="6685538" cy="107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43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7FF7D-7452-354E-82FE-927F815DE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7C96A772-9FBD-90A3-6EA2-B60B78763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br>
              <a:rPr lang="en-IN" sz="4000" dirty="0"/>
            </a:br>
            <a:endParaRPr lang="en-US" sz="4000" dirty="0"/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9F590490-1F56-8330-3062-EC4EF5C279A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10" b="110"/>
          <a:stretch/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804A20-8A27-F776-B5CE-29A2A393D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6D037F-3B63-F3E5-3113-46D2C89220F4}"/>
              </a:ext>
            </a:extLst>
          </p:cNvPr>
          <p:cNvSpPr txBox="1"/>
          <p:nvPr/>
        </p:nvSpPr>
        <p:spPr>
          <a:xfrm>
            <a:off x="619432" y="635281"/>
            <a:ext cx="9458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2"/>
                </a:solidFill>
                <a:latin typeface="Century Gothic" panose="020B0502020202020204" pitchFamily="34" charset="0"/>
              </a:rPr>
              <a:t>Mark Sheet Template</a:t>
            </a:r>
            <a:endParaRPr lang="en-IN" sz="3600" dirty="0">
              <a:solidFill>
                <a:schemeClr val="bg2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F6B0A0-03DF-ACAB-7639-5FA712152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135" y="646094"/>
            <a:ext cx="2640907" cy="1088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0B90791-F9F9-0860-3E29-1DD8C958B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598" y="1497911"/>
            <a:ext cx="6506310" cy="41751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27CD93-196F-8034-1D46-38DF5A70B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598" y="5708324"/>
            <a:ext cx="6506310" cy="1028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508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001AC-F35D-2C7E-6C52-2FDB1F61D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75DF9FF-BFDA-89CB-D806-B2F0E2B65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103" y="360486"/>
            <a:ext cx="7885472" cy="125200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b="1" dirty="0">
                <a:latin typeface="Century Gothic" panose="020B0502020202020204" pitchFamily="34" charset="0"/>
              </a:rPr>
              <a:t>Code Snippet</a:t>
            </a:r>
            <a:br>
              <a:rPr lang="en-IN" sz="4000" dirty="0"/>
            </a:br>
            <a:endParaRPr lang="en-US" sz="4000" dirty="0"/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F9C831E3-AF8D-7792-4A3F-E68DB2F2AA5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>
          <a:xfrm>
            <a:off x="1" y="0"/>
            <a:ext cx="3421626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8847A1-4709-CA70-94E6-AAB0E98BF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F68D7C-31E0-A762-B020-E871A18CC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09" y="1750143"/>
            <a:ext cx="3186408" cy="40543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5FC7E3-FC1B-B3AD-C57A-0205C57D4743}"/>
              </a:ext>
            </a:extLst>
          </p:cNvPr>
          <p:cNvSpPr txBox="1"/>
          <p:nvPr/>
        </p:nvSpPr>
        <p:spPr>
          <a:xfrm>
            <a:off x="3833825" y="1465006"/>
            <a:ext cx="75224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2000" b="1" kern="100" dirty="0">
                <a:solidFill>
                  <a:schemeClr val="accent3">
                    <a:lumMod val="75000"/>
                  </a:schemeClr>
                </a:solidFill>
                <a:effectLst/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below code reads the input data mentioned in the previous slide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1F74C8-FBE1-891E-174B-238CDAC2BE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8856" y="2219825"/>
            <a:ext cx="8151463" cy="493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9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65297-85B8-B9F0-1284-07ED94982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0474681-18A2-E96D-A666-62AD791C3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574" y="324465"/>
            <a:ext cx="7308745" cy="134802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Century Gothic" panose="020B0502020202020204" pitchFamily="34" charset="0"/>
              </a:rPr>
              <a:t>Code Snippet </a:t>
            </a:r>
          </a:p>
        </p:txBody>
      </p:sp>
      <p:pic>
        <p:nvPicPr>
          <p:cNvPr id="6" name="Picture Placeholder 4" descr="Green lights in the sky">
            <a:extLst>
              <a:ext uri="{FF2B5EF4-FFF2-40B4-BE49-F238E27FC236}">
                <a16:creationId xmlns:a16="http://schemas.microsoft.com/office/drawing/2014/main" id="{1295FF17-3DCE-BCB0-E67A-3EBE961996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8995" r="28995"/>
          <a:stretch/>
        </p:blipFill>
        <p:spPr/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15589-FFB2-759E-40DE-357971280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05F5AA-21F7-905F-F5B7-B4DAEB6435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2642" y="1966451"/>
            <a:ext cx="3841035" cy="46359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630D33-1AF3-CEB7-B4DF-E85745A23B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109" y="3254477"/>
            <a:ext cx="7376799" cy="360560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0EE07A-BB6D-A61B-36CF-5D69BA65D5D6}"/>
              </a:ext>
            </a:extLst>
          </p:cNvPr>
          <p:cNvSpPr txBox="1"/>
          <p:nvPr/>
        </p:nvSpPr>
        <p:spPr>
          <a:xfrm>
            <a:off x="698090" y="1809134"/>
            <a:ext cx="66761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From the given template,datasets are iterated (input data) and each fields are filled accordingly using the below code snippet and saved in the output folder with separate Roll number.</a:t>
            </a:r>
          </a:p>
        </p:txBody>
      </p:sp>
    </p:spTree>
    <p:extLst>
      <p:ext uri="{BB962C8B-B14F-4D97-AF65-F5344CB8AC3E}">
        <p14:creationId xmlns:p14="http://schemas.microsoft.com/office/powerpoint/2010/main" val="3053927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EF909-D603-5368-5CD1-61D229B9F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C464186-FDF4-56EA-E6A2-BDEC19EE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8103" y="360486"/>
            <a:ext cx="7885472" cy="1252004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800" b="1" dirty="0">
                <a:latin typeface="Century Gothic" panose="020B0502020202020204" pitchFamily="34" charset="0"/>
              </a:rPr>
              <a:t>Code Snippet </a:t>
            </a:r>
            <a:r>
              <a:rPr lang="en-IN" sz="4800" b="1" dirty="0" err="1">
                <a:latin typeface="Century Gothic" panose="020B0502020202020204" pitchFamily="34" charset="0"/>
              </a:rPr>
              <a:t>Contd</a:t>
            </a:r>
            <a:br>
              <a:rPr lang="en-IN" sz="4000" dirty="0"/>
            </a:br>
            <a:endParaRPr lang="en-US" sz="4000" dirty="0"/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5F3FB440-0C5B-A712-7474-0D08E63A3F2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>
          <a:xfrm>
            <a:off x="1" y="0"/>
            <a:ext cx="3421626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994A71-8E1B-8F9C-187B-ADF403E6A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151303-AAB8-4BA4-D769-8007A2F5E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09" y="1750143"/>
            <a:ext cx="3186408" cy="4054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B54216A-4F1B-8E52-BCB4-F5EDE19DA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211" y="1415845"/>
            <a:ext cx="6340389" cy="4678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546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990E0-483A-2367-0412-39D90F8BF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FCC100F3-FDEB-5991-C9E8-234AF8FE3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1" y="360486"/>
            <a:ext cx="7246374" cy="1389658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Century Gothic" panose="020B0502020202020204" pitchFamily="34" charset="0"/>
              </a:rPr>
              <a:t>Sample Output </a:t>
            </a:r>
            <a:br>
              <a:rPr lang="en-IN" sz="4000" dirty="0"/>
            </a:br>
            <a:endParaRPr lang="en-US" sz="4000" dirty="0"/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AFABF5F8-DCE1-801E-93FB-E4D42D826C2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>
          <a:xfrm>
            <a:off x="1" y="0"/>
            <a:ext cx="3421626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8B1563-33AC-5401-4E52-5B5BED5423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5010C7-EBE0-31CD-72DE-BEEBD99717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09" y="1750143"/>
            <a:ext cx="3186408" cy="40543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248164-EDC5-A5AD-E4D5-3B7A230457AA}"/>
              </a:ext>
            </a:extLst>
          </p:cNvPr>
          <p:cNvSpPr txBox="1"/>
          <p:nvPr/>
        </p:nvSpPr>
        <p:spPr>
          <a:xfrm>
            <a:off x="5083278" y="1651819"/>
            <a:ext cx="6430298" cy="3933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200000"/>
              </a:lnSpc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Each excel sheet filled automatically with below details in the mentioned output folder: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Student Name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Subject Marks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Total 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Grade </a:t>
            </a:r>
          </a:p>
          <a:p>
            <a:pPr lvl="0">
              <a:lnSpc>
                <a:spcPct val="2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000" b="1" kern="100" dirty="0">
              <a:solidFill>
                <a:schemeClr val="accent3">
                  <a:lumMod val="75000"/>
                </a:schemeClr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C2EE5-8BC3-D4C9-1D9E-6923398E2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0876" y="2270231"/>
            <a:ext cx="3451123" cy="301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957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87173-27D7-6650-C690-7CBA1E583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CD9F1389-2DC7-2B47-67B3-15EC3661148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110" b="110"/>
          <a:stretch/>
        </p:blipFill>
        <p:spPr/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0EC4F6-B2C1-F10B-1E46-45B7EE76A9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6D346C-F6BA-F34B-07B4-3AF03E6D83B2}"/>
              </a:ext>
            </a:extLst>
          </p:cNvPr>
          <p:cNvSpPr txBox="1"/>
          <p:nvPr/>
        </p:nvSpPr>
        <p:spPr>
          <a:xfrm>
            <a:off x="619432" y="635281"/>
            <a:ext cx="94586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bg2"/>
                </a:solidFill>
                <a:latin typeface="Century Gothic" panose="020B0502020202020204" pitchFamily="34" charset="0"/>
              </a:rPr>
              <a:t>Automated Sample Output </a:t>
            </a:r>
            <a:endParaRPr lang="en-IN" sz="3600" dirty="0">
              <a:solidFill>
                <a:schemeClr val="bg2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ADDF5BB-5520-9C13-0E37-6734E9DFE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135" y="646094"/>
            <a:ext cx="2640907" cy="7500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F6BB75-52E3-818C-B277-7496C0313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0849" y="1396182"/>
            <a:ext cx="6095101" cy="28585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821EB8-719A-7227-C8C7-81BB021530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0849" y="4289837"/>
            <a:ext cx="6217059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099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F8A78-5C6C-CFE8-5B39-6C307AEC4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E90F26D9-6280-CBE2-823A-3B9AD0BAB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1" y="360486"/>
            <a:ext cx="7246374" cy="1389658"/>
          </a:xfrm>
        </p:spPr>
        <p:txBody>
          <a:bodyPr>
            <a:normAutofit/>
          </a:bodyPr>
          <a:lstStyle/>
          <a:p>
            <a:pPr algn="ctr"/>
            <a:r>
              <a:rPr lang="en-IN" sz="4800" b="1" dirty="0">
                <a:latin typeface="Century Gothic" panose="020B0502020202020204" pitchFamily="34" charset="0"/>
              </a:rPr>
              <a:t>Conclusion</a:t>
            </a:r>
            <a:br>
              <a:rPr lang="en-IN" sz="4000" dirty="0"/>
            </a:br>
            <a:endParaRPr lang="en-US" sz="4000" dirty="0"/>
          </a:p>
        </p:txBody>
      </p:sp>
      <p:pic>
        <p:nvPicPr>
          <p:cNvPr id="24" name="Picture Placeholder 23" descr="Green lights in the sky">
            <a:extLst>
              <a:ext uri="{FF2B5EF4-FFF2-40B4-BE49-F238E27FC236}">
                <a16:creationId xmlns:a16="http://schemas.microsoft.com/office/drawing/2014/main" id="{E16FF85B-BBD5-C6AC-4B87-587C5F0A9F4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37" b="37"/>
          <a:stretch/>
        </p:blipFill>
        <p:spPr>
          <a:xfrm>
            <a:off x="1" y="0"/>
            <a:ext cx="3421626" cy="6858000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E17CC4-C002-6A14-5E74-AB8060F0A2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20AF12-FCB0-9EE6-15E9-092D93A07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709" y="1750143"/>
            <a:ext cx="3186408" cy="40543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2B31B7-D341-A87C-0321-C90B409FC8F4}"/>
              </a:ext>
            </a:extLst>
          </p:cNvPr>
          <p:cNvSpPr txBox="1"/>
          <p:nvPr/>
        </p:nvSpPr>
        <p:spPr>
          <a:xfrm>
            <a:off x="5486400" y="1222311"/>
            <a:ext cx="6027176" cy="5457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xlwings simplifies Excel automation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Structured data improves performance</a:t>
            </a:r>
          </a:p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Rethink constant querying — use structured data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Frontend-first strategy for performance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Especially effective in student or admin portals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Simple idea </a:t>
            </a:r>
          </a:p>
          <a:p>
            <a:pPr marL="285750" lvl="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Big performance gains</a:t>
            </a:r>
          </a:p>
          <a:p>
            <a:pPr marL="285750" indent="-285750" fontAlgn="base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  <a:latin typeface="Century Gothic" panose="020B0502020202020204" pitchFamily="34" charset="0"/>
              </a:rPr>
              <a:t> Smarter Data Access for Faster UX</a:t>
            </a: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lvl="0" fontAlgn="base">
              <a:lnSpc>
                <a:spcPct val="150000"/>
              </a:lnSpc>
            </a:pPr>
            <a:endParaRPr lang="en-IN" b="1" dirty="0">
              <a:solidFill>
                <a:schemeClr val="accent3">
                  <a:lumMod val="75000"/>
                </a:schemeClr>
              </a:solidFill>
              <a:latin typeface="Century Gothic" panose="020B0502020202020204" pitchFamily="34" charset="0"/>
            </a:endParaRPr>
          </a:p>
          <a:p>
            <a:pPr marL="342900" lvl="0" indent="-342900">
              <a:lnSpc>
                <a:spcPct val="20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IN" sz="2000" b="1" kern="100" dirty="0">
              <a:solidFill>
                <a:schemeClr val="accent3">
                  <a:lumMod val="75000"/>
                </a:schemeClr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8985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71D8FC-E122-CABE-6FCE-615B2C341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1088211"/>
            <a:ext cx="8893280" cy="4896019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C0AAF18-4CEE-1466-A471-210689200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38" y="1199537"/>
            <a:ext cx="3186408" cy="4054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06097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2AE0DF-6B5F-4274-A760-FE77CC84C90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38B8CBF-35BC-4CBA-95E2-584C08F618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27BAF2-BB0B-4E7B-AE5A-2E47729F98C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ModOverlayVTI</Template>
  <TotalTime>165</TotalTime>
  <Words>454</Words>
  <Application>Microsoft Office PowerPoint</Application>
  <PresentationFormat>Widescreen</PresentationFormat>
  <Paragraphs>123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Arial</vt:lpstr>
      <vt:lpstr>Arial Nova Light</vt:lpstr>
      <vt:lpstr>Calibri</vt:lpstr>
      <vt:lpstr>Century Gothic</vt:lpstr>
      <vt:lpstr>Elephant</vt:lpstr>
      <vt:lpstr>Segoe UI Emoji</vt:lpstr>
      <vt:lpstr>Symbol</vt:lpstr>
      <vt:lpstr>Wingdings</vt:lpstr>
      <vt:lpstr>ModOverlayVTI</vt:lpstr>
      <vt:lpstr>     Automatic Exam Marks Filling using xlwings       Enhanced with Optimized Data Handling Approach </vt:lpstr>
      <vt:lpstr>Project Overview</vt:lpstr>
      <vt:lpstr>Current Challenge  Limitations of SQL Queries in Real-Time Web Apps</vt:lpstr>
      <vt:lpstr>Proposed Enhancement</vt:lpstr>
      <vt:lpstr>Tools &amp; Technologies </vt:lpstr>
      <vt:lpstr>Workflow Process</vt:lpstr>
      <vt:lpstr>Optimized Data Flow </vt:lpstr>
      <vt:lpstr>Key Features</vt:lpstr>
      <vt:lpstr>Benefits</vt:lpstr>
      <vt:lpstr>Use Cases</vt:lpstr>
      <vt:lpstr>Input Data</vt:lpstr>
      <vt:lpstr> </vt:lpstr>
      <vt:lpstr>Code Snippet </vt:lpstr>
      <vt:lpstr>Code Snippet </vt:lpstr>
      <vt:lpstr>Code Snippet Contd </vt:lpstr>
      <vt:lpstr>Sample Output  </vt:lpstr>
      <vt:lpstr>PowerPoint Presentation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RajiBaskar</dc:creator>
  <cp:lastModifiedBy>Rajalakshmi Jayapal</cp:lastModifiedBy>
  <cp:revision>5</cp:revision>
  <dcterms:created xsi:type="dcterms:W3CDTF">2026-04-03T16:56:03Z</dcterms:created>
  <dcterms:modified xsi:type="dcterms:W3CDTF">2026-04-15T17:08:42Z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